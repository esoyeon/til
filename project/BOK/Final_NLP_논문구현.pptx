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5"/>
  </p:notesMasterIdLst>
  <p:sldIdLst>
    <p:sldId id="309" r:id="rId2"/>
    <p:sldId id="343" r:id="rId3"/>
    <p:sldId id="341" r:id="rId4"/>
    <p:sldId id="355" r:id="rId5"/>
    <p:sldId id="360" r:id="rId6"/>
    <p:sldId id="375" r:id="rId7"/>
    <p:sldId id="376" r:id="rId8"/>
    <p:sldId id="345" r:id="rId9"/>
    <p:sldId id="374" r:id="rId10"/>
    <p:sldId id="373" r:id="rId11"/>
    <p:sldId id="352" r:id="rId12"/>
    <p:sldId id="353" r:id="rId13"/>
    <p:sldId id="347" r:id="rId14"/>
    <p:sldId id="348" r:id="rId15"/>
    <p:sldId id="361" r:id="rId16"/>
    <p:sldId id="363" r:id="rId17"/>
    <p:sldId id="362" r:id="rId18"/>
    <p:sldId id="358" r:id="rId19"/>
    <p:sldId id="364" r:id="rId20"/>
    <p:sldId id="365" r:id="rId21"/>
    <p:sldId id="366" r:id="rId22"/>
    <p:sldId id="349" r:id="rId23"/>
    <p:sldId id="367" r:id="rId24"/>
    <p:sldId id="368" r:id="rId25"/>
    <p:sldId id="369" r:id="rId26"/>
    <p:sldId id="370" r:id="rId27"/>
    <p:sldId id="354" r:id="rId28"/>
    <p:sldId id="371" r:id="rId29"/>
    <p:sldId id="350" r:id="rId30"/>
    <p:sldId id="351" r:id="rId31"/>
    <p:sldId id="357" r:id="rId32"/>
    <p:sldId id="332" r:id="rId33"/>
    <p:sldId id="377" r:id="rId34"/>
  </p:sldIdLst>
  <p:sldSz cx="9144000" cy="6858000" type="screen4x3"/>
  <p:notesSz cx="6858000" cy="9144000"/>
  <p:embeddedFontLst>
    <p:embeddedFont>
      <p:font typeface="Yoon 윤고딕 520_TT" panose="020B0600000101010101" charset="-127"/>
      <p:regular r:id="rId36"/>
    </p:embeddedFont>
    <p:embeddedFont>
      <p:font typeface="Cambria Math" panose="02040503050406030204" pitchFamily="18" charset="0"/>
      <p:regular r:id="rId37"/>
    </p:embeddedFont>
    <p:embeddedFont>
      <p:font typeface="맑은 고딕" panose="020B0503020000020004" pitchFamily="50" charset="-127"/>
      <p:regular r:id="rId38"/>
      <p:bold r:id="rId39"/>
    </p:embeddedFont>
    <p:embeddedFont>
      <p:font typeface="-윤고딕320" panose="02030504000101010101" pitchFamily="18" charset="-127"/>
      <p:regular r:id="rId40"/>
    </p:embeddedFont>
    <p:embeddedFont>
      <p:font typeface="-윤고딕330" panose="02030504000101010101" pitchFamily="18" charset="-127"/>
      <p:regular r:id="rId41"/>
    </p:embeddedFont>
    <p:embeddedFont>
      <p:font typeface="-윤고딕360" panose="02030504000101010101" pitchFamily="18" charset="-127"/>
      <p:regular r:id="rId42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2" userDrawn="1">
          <p15:clr>
            <a:srgbClr val="A4A3A4"/>
          </p15:clr>
        </p15:guide>
        <p15:guide id="2" pos="106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272123"/>
    <a:srgbClr val="AF9061"/>
    <a:srgbClr val="FDA800"/>
    <a:srgbClr val="F2281E"/>
    <a:srgbClr val="7AB5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293" autoAdjust="0"/>
    <p:restoredTop sz="98113" autoAdjust="0"/>
  </p:normalViewPr>
  <p:slideViewPr>
    <p:cSldViewPr>
      <p:cViewPr varScale="1">
        <p:scale>
          <a:sx n="78" d="100"/>
          <a:sy n="78" d="100"/>
        </p:scale>
        <p:origin x="1766" y="67"/>
      </p:cViewPr>
      <p:guideLst>
        <p:guide orient="horz" pos="572"/>
        <p:guide pos="106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A45AB8-738B-4528-8244-FCFB4BA88943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FDC29C-F4E0-492C-A588-634F0CEE5B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2661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FDC29C-F4E0-492C-A588-634F0CEE5B44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734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02466-FE76-40E8-BE5D-598A609EDD2B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EB9E3-907B-4C9E-8669-48B8CFAF98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2922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02466-FE76-40E8-BE5D-598A609EDD2B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EB9E3-907B-4C9E-8669-48B8CFAF98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583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02466-FE76-40E8-BE5D-598A609EDD2B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EB9E3-907B-4C9E-8669-48B8CFAF98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0371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02466-FE76-40E8-BE5D-598A609EDD2B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EB9E3-907B-4C9E-8669-48B8CFAF98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0812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02466-FE76-40E8-BE5D-598A609EDD2B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EB9E3-907B-4C9E-8669-48B8CFAF98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7424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02466-FE76-40E8-BE5D-598A609EDD2B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EB9E3-907B-4C9E-8669-48B8CFAF98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7374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02466-FE76-40E8-BE5D-598A609EDD2B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EB9E3-907B-4C9E-8669-48B8CFAF98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3456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02466-FE76-40E8-BE5D-598A609EDD2B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EB9E3-907B-4C9E-8669-48B8CFAF98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0026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02466-FE76-40E8-BE5D-598A609EDD2B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EB9E3-907B-4C9E-8669-48B8CFAF98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2713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02466-FE76-40E8-BE5D-598A609EDD2B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EB9E3-907B-4C9E-8669-48B8CFAF98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7871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02466-FE76-40E8-BE5D-598A609EDD2B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EB9E3-907B-4C9E-8669-48B8CFAF98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3622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302466-FE76-40E8-BE5D-598A609EDD2B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CEB9E3-907B-4C9E-8669-48B8CFAF98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9972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mailto:abc123@gmail.com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11559" y="3047934"/>
            <a:ext cx="3333024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700" b="1" dirty="0" err="1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MulCam</a:t>
            </a:r>
            <a:endParaRPr lang="en-US" altLang="ko-KR" sz="4700" b="1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1559" y="2818262"/>
            <a:ext cx="3333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BOK Working Paper</a:t>
            </a:r>
          </a:p>
        </p:txBody>
      </p:sp>
      <p:cxnSp>
        <p:nvCxnSpPr>
          <p:cNvPr id="7" name="직선 연결선 6"/>
          <p:cNvCxnSpPr/>
          <p:nvPr/>
        </p:nvCxnSpPr>
        <p:spPr>
          <a:xfrm>
            <a:off x="3059832" y="2666868"/>
            <a:ext cx="0" cy="1626228"/>
          </a:xfrm>
          <a:prstGeom prst="line">
            <a:avLst/>
          </a:prstGeom>
          <a:ln>
            <a:solidFill>
              <a:srgbClr val="272123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339832" y="2947747"/>
            <a:ext cx="433654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-윤고딕330" panose="02030504000101010101" pitchFamily="18" charset="-127"/>
                <a:ea typeface="-윤고딕330" panose="02030504000101010101" pitchFamily="18" charset="-127"/>
              </a:rPr>
              <a:t>Deciphering Monetary Policy Board</a:t>
            </a:r>
          </a:p>
          <a:p>
            <a:r>
              <a:rPr lang="en-US" sz="1600" dirty="0">
                <a:latin typeface="-윤고딕330" panose="02030504000101010101" pitchFamily="18" charset="-127"/>
                <a:ea typeface="-윤고딕330" panose="02030504000101010101" pitchFamily="18" charset="-127"/>
              </a:rPr>
              <a:t>Minutes through Text Mining Approach:</a:t>
            </a:r>
          </a:p>
          <a:p>
            <a:r>
              <a:rPr lang="en-US" sz="1600" dirty="0">
                <a:latin typeface="-윤고딕330" panose="02030504000101010101" pitchFamily="18" charset="-127"/>
                <a:ea typeface="-윤고딕330" panose="02030504000101010101" pitchFamily="18" charset="-127"/>
              </a:rPr>
              <a:t>The Case of Korea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-435778" y="6697496"/>
            <a:ext cx="10015557" cy="165100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700" dirty="0"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  <a:solidFill>
                <a:schemeClr val="bg1">
                  <a:lumMod val="95000"/>
                </a:schemeClr>
              </a:solidFill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-435778" y="-27384"/>
            <a:ext cx="10015557" cy="165100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700" dirty="0"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  <a:solidFill>
                <a:schemeClr val="bg1">
                  <a:lumMod val="95000"/>
                </a:schemeClr>
              </a:solidFill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339832" y="3794452"/>
            <a:ext cx="46346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err="1">
                <a:latin typeface="-윤고딕330" panose="02030504000101010101" pitchFamily="18" charset="-127"/>
                <a:ea typeface="-윤고딕330" panose="02030504000101010101" pitchFamily="18" charset="-127"/>
              </a:rPr>
              <a:t>텍스트마이닝을</a:t>
            </a:r>
            <a:r>
              <a:rPr lang="ko-KR" altLang="en-US" sz="1600" dirty="0">
                <a:latin typeface="-윤고딕330" panose="02030504000101010101" pitchFamily="18" charset="-127"/>
                <a:ea typeface="-윤고딕330" panose="02030504000101010101" pitchFamily="18" charset="-127"/>
              </a:rPr>
              <a:t> 활용한 금융통화위원회 의사록 분석</a:t>
            </a:r>
          </a:p>
        </p:txBody>
      </p:sp>
    </p:spTree>
    <p:extLst>
      <p:ext uri="{BB962C8B-B14F-4D97-AF65-F5344CB8AC3E}">
        <p14:creationId xmlns:p14="http://schemas.microsoft.com/office/powerpoint/2010/main" val="3520452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11559" y="2996952"/>
            <a:ext cx="3333024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700" b="1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oon 윤고딕 520_TT" pitchFamily="18" charset="-127"/>
                <a:ea typeface="Yoon 윤고딕 520_TT" pitchFamily="18" charset="-127"/>
              </a:rPr>
              <a:t>INDEX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1559" y="2767280"/>
            <a:ext cx="3333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BOK Working Paper</a:t>
            </a:r>
          </a:p>
        </p:txBody>
      </p:sp>
      <p:cxnSp>
        <p:nvCxnSpPr>
          <p:cNvPr id="7" name="직선 연결선 6"/>
          <p:cNvCxnSpPr/>
          <p:nvPr/>
        </p:nvCxnSpPr>
        <p:spPr>
          <a:xfrm flipH="1">
            <a:off x="3045431" y="1653060"/>
            <a:ext cx="17810" cy="3576140"/>
          </a:xfrm>
          <a:prstGeom prst="line">
            <a:avLst/>
          </a:prstGeom>
          <a:ln>
            <a:solidFill>
              <a:srgbClr val="272123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707904" y="1733364"/>
            <a:ext cx="5056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텍스트 전처리 수집 및 전처리</a:t>
            </a: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-435778" y="6697496"/>
            <a:ext cx="10015557" cy="165100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BOK Working Paper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-435778" y="-27384"/>
            <a:ext cx="10015557" cy="165100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700" dirty="0"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  <a:solidFill>
                <a:schemeClr val="bg1">
                  <a:lumMod val="95000"/>
                </a:schemeClr>
              </a:solidFill>
              <a:latin typeface="Yoon 윤고딕 520_TT" pitchFamily="18" charset="-127"/>
              <a:ea typeface="Yoon 윤고딕 520_TT" pitchFamily="18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51696" y="3159863"/>
            <a:ext cx="5056637" cy="430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극성 사전 및 평가</a:t>
            </a: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720347" y="2122417"/>
            <a:ext cx="5056637" cy="387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뉴스 기사 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720347" y="2443946"/>
            <a:ext cx="5056637" cy="387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채권분석보고서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720347" y="2756803"/>
            <a:ext cx="5056637" cy="387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금융통화위원회 의사록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3267821" y="1762981"/>
            <a:ext cx="432048" cy="4320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3267821" y="1675126"/>
            <a:ext cx="56046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-윤고딕360" panose="02030504000101010101" pitchFamily="18" charset="-127"/>
                <a:ea typeface="-윤고딕360" panose="02030504000101010101" pitchFamily="18" charset="-127"/>
              </a:rPr>
              <a:t>01</a:t>
            </a:r>
            <a:endParaRPr lang="ko-KR" altLang="en-US" sz="20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chemeClr val="bg1"/>
              </a:solidFill>
              <a:latin typeface="-윤고딕360" panose="02030504000101010101" pitchFamily="18" charset="-127"/>
              <a:ea typeface="-윤고딕360" panose="02030504000101010101" pitchFamily="18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3267821" y="3188748"/>
            <a:ext cx="432048" cy="4320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3259786" y="3105270"/>
            <a:ext cx="560464" cy="515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-윤고딕360" panose="02030504000101010101" pitchFamily="18" charset="-127"/>
                <a:ea typeface="-윤고딕360" panose="02030504000101010101" pitchFamily="18" charset="-127"/>
              </a:rPr>
              <a:t>02</a:t>
            </a:r>
            <a:endParaRPr lang="ko-KR" altLang="en-US" sz="20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chemeClr val="bg1"/>
              </a:solidFill>
              <a:latin typeface="-윤고딕360" panose="02030504000101010101" pitchFamily="18" charset="-127"/>
              <a:ea typeface="-윤고딕360" panose="02030504000101010101" pitchFamily="18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699593" y="3583628"/>
            <a:ext cx="5056637" cy="387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극성 사전 구축 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699593" y="3905157"/>
            <a:ext cx="5056637" cy="387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의사록 어조와 기준 금리 평가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751696" y="4359675"/>
            <a:ext cx="5056637" cy="430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결론</a:t>
            </a: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3267821" y="4388560"/>
            <a:ext cx="432048" cy="4320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3699593" y="4783440"/>
            <a:ext cx="5056637" cy="387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한계점 및 결론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249211" y="4290162"/>
            <a:ext cx="560464" cy="515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-윤고딕360" panose="02030504000101010101" pitchFamily="18" charset="-127"/>
                <a:ea typeface="-윤고딕360" panose="02030504000101010101" pitchFamily="18" charset="-127"/>
              </a:rPr>
              <a:t>03</a:t>
            </a:r>
            <a:endParaRPr lang="ko-KR" altLang="en-US" sz="20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chemeClr val="bg1"/>
              </a:solidFill>
              <a:latin typeface="-윤고딕360" panose="02030504000101010101" pitchFamily="18" charset="-127"/>
              <a:ea typeface="-윤고딕360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3369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1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83768" y="2996952"/>
            <a:ext cx="5400600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-윤고딕360" panose="02030504000101010101" pitchFamily="18" charset="-127"/>
                <a:ea typeface="-윤고딕360" panose="02030504000101010101" pitchFamily="18" charset="-127"/>
              </a:rPr>
              <a:t>텍스트 전처리 수집 및 전처리</a:t>
            </a:r>
            <a:endParaRPr lang="en-US" altLang="ko-KR" sz="28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chemeClr val="bg1"/>
              </a:solidFill>
              <a:latin typeface="-윤고딕360" panose="02030504000101010101" pitchFamily="18" charset="-127"/>
              <a:ea typeface="-윤고딕360" panose="02030504000101010101" pitchFamily="18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63688" y="2924944"/>
            <a:ext cx="11521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2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-윤고딕360" panose="02030504000101010101" pitchFamily="18" charset="-127"/>
                <a:ea typeface="-윤고딕360" panose="02030504000101010101" pitchFamily="18" charset="-127"/>
              </a:rPr>
              <a:t>01</a:t>
            </a:r>
            <a:endParaRPr lang="ko-KR" altLang="en-US" sz="32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chemeClr val="bg1"/>
              </a:solidFill>
              <a:latin typeface="-윤고딕360" panose="02030504000101010101" pitchFamily="18" charset="-127"/>
              <a:ea typeface="-윤고딕360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1137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683568" y="-371068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/>
        </p:nvCxnSpPr>
        <p:spPr>
          <a:xfrm flipH="1">
            <a:off x="692540" y="548680"/>
            <a:ext cx="9295796" cy="0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64352" y="143777"/>
            <a:ext cx="1935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Data preprocessing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45712" y="151887"/>
            <a:ext cx="1666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Lexicon Dictionary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-9283" y="875067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각 삼각형 9"/>
          <p:cNvSpPr/>
          <p:nvPr/>
        </p:nvSpPr>
        <p:spPr>
          <a:xfrm rot="5400000">
            <a:off x="691922" y="1205139"/>
            <a:ext cx="81142" cy="1080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107504" y="1340768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504" y="1819563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549" y="882386"/>
            <a:ext cx="541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56571" y="148154"/>
            <a:ext cx="2246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Evaluation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9968" y="150020"/>
            <a:ext cx="1666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Conclusion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B7F2870-AFC5-4668-8400-EB2FE8DDDD6B}"/>
              </a:ext>
            </a:extLst>
          </p:cNvPr>
          <p:cNvSpPr txBox="1"/>
          <p:nvPr/>
        </p:nvSpPr>
        <p:spPr>
          <a:xfrm>
            <a:off x="1402843" y="1983002"/>
            <a:ext cx="4667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30" panose="02030504000101010101" pitchFamily="18" charset="-127"/>
                <a:ea typeface="-윤고딕330" panose="02030504000101010101" pitchFamily="18" charset="-127"/>
                <a:cs typeface="+mn-cs"/>
              </a:rPr>
              <a:t>기본적인 사항</a:t>
            </a:r>
            <a:endParaRPr kumimoji="0" lang="en-US" altLang="ko-KR" sz="1600" b="0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30" panose="02030504000101010101" pitchFamily="18" charset="-127"/>
              <a:ea typeface="-윤고딕330" panose="02030504000101010101" pitchFamily="18" charset="-127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0626FA5-492B-4048-A6B3-363890FD5840}"/>
              </a:ext>
            </a:extLst>
          </p:cNvPr>
          <p:cNvSpPr txBox="1"/>
          <p:nvPr/>
        </p:nvSpPr>
        <p:spPr>
          <a:xfrm>
            <a:off x="1194790" y="2307461"/>
            <a:ext cx="7713721" cy="1101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15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</a:rPr>
              <a:t>개수</a:t>
            </a:r>
            <a:r>
              <a:rPr kumimoji="0" lang="ko-KR" altLang="en-US" sz="1500" b="0" i="0" u="none" strike="noStrike" kern="1200" cap="none" spc="0" normalizeH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</a:rPr>
              <a:t> </a:t>
            </a:r>
            <a:r>
              <a:rPr kumimoji="0" lang="en-US" altLang="ko-KR" sz="1500" b="0" i="0" u="none" strike="noStrike" kern="1200" cap="none" spc="0" normalizeH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</a:rPr>
              <a:t>: 200,885</a:t>
            </a:r>
            <a:r>
              <a:rPr kumimoji="0" lang="ko-KR" altLang="en-US" sz="1500" b="0" i="0" u="none" strike="noStrike" kern="1200" cap="none" spc="0" normalizeH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</a:rPr>
              <a:t>개</a:t>
            </a:r>
            <a:r>
              <a:rPr kumimoji="0" lang="en-US" altLang="ko-KR" sz="1500" b="0" i="0" u="none" strike="noStrike" kern="1200" cap="none" spc="0" normalizeH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</a:rPr>
              <a:t> (2005.01 ~ 2017.05, </a:t>
            </a:r>
            <a:r>
              <a:rPr kumimoji="0" lang="ko-KR" altLang="en-US" sz="1500" b="0" i="0" u="none" strike="noStrike" kern="1200" cap="none" spc="0" normalizeH="0" noProof="0" dirty="0" err="1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</a:rPr>
              <a:t>이데일리</a:t>
            </a:r>
            <a:r>
              <a:rPr kumimoji="0" lang="ko-KR" altLang="en-US" sz="1500" b="0" i="0" u="none" strike="noStrike" kern="1200" cap="none" spc="0" normalizeH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</a:rPr>
              <a:t> </a:t>
            </a:r>
            <a:r>
              <a:rPr kumimoji="0" lang="en-US" altLang="ko-KR" sz="1500" b="0" i="0" u="none" strike="noStrike" kern="1200" cap="none" spc="0" normalizeH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</a:rPr>
              <a:t>+ </a:t>
            </a:r>
            <a:r>
              <a:rPr kumimoji="0" lang="ko-KR" altLang="en-US" sz="1500" b="0" i="0" u="none" strike="noStrike" kern="1200" cap="none" spc="0" normalizeH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</a:rPr>
              <a:t>연합뉴스 </a:t>
            </a:r>
            <a:r>
              <a:rPr kumimoji="0" lang="en-US" altLang="ko-KR" sz="1500" b="0" i="0" u="none" strike="noStrike" kern="1200" cap="none" spc="0" normalizeH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</a:rPr>
              <a:t>+ </a:t>
            </a:r>
            <a:r>
              <a:rPr kumimoji="0" lang="ko-KR" altLang="en-US" sz="1500" b="0" i="0" u="none" strike="noStrike" kern="1200" cap="none" spc="0" normalizeH="0" noProof="0" dirty="0" err="1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</a:rPr>
              <a:t>연합인포맥스</a:t>
            </a:r>
            <a:r>
              <a:rPr kumimoji="0" lang="en-US" altLang="ko-KR" sz="1500" b="0" i="0" u="none" strike="noStrike" kern="1200" cap="none" spc="0" normalizeH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</a:rPr>
              <a:t>)</a:t>
            </a:r>
          </a:p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ko-KR" altLang="en-US" sz="1500" baseline="0" dirty="0" err="1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전처리</a:t>
            </a:r>
            <a:r>
              <a:rPr lang="ko-KR" altLang="en-US" sz="1500" baseline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 방법 </a:t>
            </a:r>
            <a:r>
              <a:rPr lang="en-US" altLang="ko-KR" sz="1500" baseline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: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 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replace 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함수와 정규 표현식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(Regular Expression)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을 이용하여 기사 내용만을 추출 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(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특수 문자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, 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불필요한 반복 내용 제거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)</a:t>
            </a:r>
            <a:endParaRPr kumimoji="0" lang="en-US" altLang="ko-KR" sz="1500" b="0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sp>
        <p:nvSpPr>
          <p:cNvPr id="40" name="갈매기형 수장 14">
            <a:extLst>
              <a:ext uri="{FF2B5EF4-FFF2-40B4-BE49-F238E27FC236}">
                <a16:creationId xmlns:a16="http://schemas.microsoft.com/office/drawing/2014/main" id="{DD99EDD9-FB4B-422C-8DFA-F636B05AA725}"/>
              </a:ext>
            </a:extLst>
          </p:cNvPr>
          <p:cNvSpPr/>
          <p:nvPr/>
        </p:nvSpPr>
        <p:spPr>
          <a:xfrm>
            <a:off x="1202060" y="2082239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" name="갈매기형 수장 15">
            <a:extLst>
              <a:ext uri="{FF2B5EF4-FFF2-40B4-BE49-F238E27FC236}">
                <a16:creationId xmlns:a16="http://schemas.microsoft.com/office/drawing/2014/main" id="{317C2704-563B-4252-B046-A84FC6D83940}"/>
              </a:ext>
            </a:extLst>
          </p:cNvPr>
          <p:cNvSpPr/>
          <p:nvPr/>
        </p:nvSpPr>
        <p:spPr>
          <a:xfrm>
            <a:off x="1054409" y="2082239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E207EF-E35D-4CE3-8836-BD69E70607F0}"/>
              </a:ext>
            </a:extLst>
          </p:cNvPr>
          <p:cNvSpPr txBox="1"/>
          <p:nvPr/>
        </p:nvSpPr>
        <p:spPr>
          <a:xfrm>
            <a:off x="809238" y="875067"/>
            <a:ext cx="39317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30" panose="02030504000101010101" pitchFamily="18" charset="-127"/>
                <a:ea typeface="-윤고딕330" panose="02030504000101010101" pitchFamily="18" charset="-127"/>
                <a:cs typeface="+mn-cs"/>
              </a:rPr>
              <a:t>1. </a:t>
            </a:r>
            <a:r>
              <a:rPr lang="ko-KR" altLang="en-US" sz="22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네이버 뉴스 기사</a:t>
            </a:r>
            <a:endParaRPr kumimoji="0" lang="en-US" altLang="ko-KR" sz="2200" b="0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30" panose="02030504000101010101" pitchFamily="18" charset="-127"/>
              <a:ea typeface="-윤고딕330" panose="02030504000101010101" pitchFamily="18" charset="-127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9BBCFB1-475A-40AE-B395-CD2B193CAE14}"/>
              </a:ext>
            </a:extLst>
          </p:cNvPr>
          <p:cNvSpPr txBox="1"/>
          <p:nvPr/>
        </p:nvSpPr>
        <p:spPr>
          <a:xfrm>
            <a:off x="1402843" y="3573016"/>
            <a:ext cx="4667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전처리 시 어려웠던 점</a:t>
            </a:r>
            <a:endParaRPr kumimoji="0" lang="en-US" altLang="ko-KR" sz="1600" b="0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30" panose="02030504000101010101" pitchFamily="18" charset="-127"/>
              <a:ea typeface="-윤고딕330" panose="02030504000101010101" pitchFamily="18" charset="-127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0ACB110-D1A9-4E48-8183-2A520448AF50}"/>
              </a:ext>
            </a:extLst>
          </p:cNvPr>
          <p:cNvSpPr txBox="1"/>
          <p:nvPr/>
        </p:nvSpPr>
        <p:spPr>
          <a:xfrm>
            <a:off x="1187625" y="4060968"/>
            <a:ext cx="77137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</a:rPr>
              <a:t>20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</a:rPr>
              <a:t>만 여개의 기사를 문장 단위로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</a:rPr>
              <a:t>n-gram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</a:rPr>
              <a:t>화 시킬 때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</a:rPr>
              <a:t>약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</a:rPr>
              <a:t>16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</a:rPr>
              <a:t>시간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</a:rPr>
              <a:t>소모</a:t>
            </a:r>
            <a:endParaRPr kumimoji="0" lang="en-US" altLang="ko-KR" sz="1600" b="0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sp>
        <p:nvSpPr>
          <p:cNvPr id="47" name="갈매기형 수장 14">
            <a:extLst>
              <a:ext uri="{FF2B5EF4-FFF2-40B4-BE49-F238E27FC236}">
                <a16:creationId xmlns:a16="http://schemas.microsoft.com/office/drawing/2014/main" id="{2CDEA43C-A7F8-4B7E-930D-57E52AE3EA57}"/>
              </a:ext>
            </a:extLst>
          </p:cNvPr>
          <p:cNvSpPr/>
          <p:nvPr/>
        </p:nvSpPr>
        <p:spPr>
          <a:xfrm>
            <a:off x="1202060" y="3672253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8" name="갈매기형 수장 15">
            <a:extLst>
              <a:ext uri="{FF2B5EF4-FFF2-40B4-BE49-F238E27FC236}">
                <a16:creationId xmlns:a16="http://schemas.microsoft.com/office/drawing/2014/main" id="{9BFAD736-80BC-43C2-896B-252B5A1CC1DE}"/>
              </a:ext>
            </a:extLst>
          </p:cNvPr>
          <p:cNvSpPr/>
          <p:nvPr/>
        </p:nvSpPr>
        <p:spPr>
          <a:xfrm>
            <a:off x="1054409" y="3672253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00C9035-BC95-4A61-A2C7-EE0C7A0373B1}"/>
              </a:ext>
            </a:extLst>
          </p:cNvPr>
          <p:cNvSpPr txBox="1"/>
          <p:nvPr/>
        </p:nvSpPr>
        <p:spPr>
          <a:xfrm>
            <a:off x="1043608" y="1395006"/>
            <a:ext cx="7713721" cy="430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</a:rPr>
              <a:t>크롤링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</a:rPr>
              <a:t> 방법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</a:rPr>
              <a:t>: </a:t>
            </a:r>
            <a:r>
              <a:rPr lang="en-US" altLang="ko-KR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scrapy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373F496-7080-4E70-8C0B-7A047AAA2E49}"/>
              </a:ext>
            </a:extLst>
          </p:cNvPr>
          <p:cNvSpPr txBox="1"/>
          <p:nvPr/>
        </p:nvSpPr>
        <p:spPr>
          <a:xfrm>
            <a:off x="1187624" y="4478595"/>
            <a:ext cx="77137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</a:rPr>
              <a:t>저널마다 다른 포맷에 따른 불필요한 단어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</a:rPr>
              <a:t>,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</a:rPr>
              <a:t>문장 제거 작업</a:t>
            </a:r>
            <a:endParaRPr kumimoji="0" lang="en-US" altLang="ko-KR" sz="1600" b="0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AE12B2A-ACFF-4BF3-95CD-20F35CCBB72C}"/>
              </a:ext>
            </a:extLst>
          </p:cNvPr>
          <p:cNvSpPr txBox="1"/>
          <p:nvPr/>
        </p:nvSpPr>
        <p:spPr>
          <a:xfrm>
            <a:off x="1483577" y="4896222"/>
            <a:ext cx="77137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600" dirty="0">
                <a:ln>
                  <a:solidFill>
                    <a:prstClr val="black">
                      <a:alpha val="30000"/>
                    </a:prstClr>
                  </a:solidFill>
                </a:ln>
                <a:latin typeface="-윤고딕320" panose="02030504000101010101" pitchFamily="18" charset="-127"/>
                <a:ea typeface="-윤고딕320" panose="02030504000101010101" pitchFamily="18" charset="-127"/>
              </a:rPr>
              <a:t>(solution) </a:t>
            </a:r>
            <a:r>
              <a:rPr lang="en-US" altLang="ko-KR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FF0000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replace()</a:t>
            </a:r>
            <a:r>
              <a:rPr lang="ko-KR" altLang="en-US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FF0000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와 </a:t>
            </a:r>
            <a:r>
              <a:rPr lang="en-US" altLang="ko-KR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FF0000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re module</a:t>
            </a:r>
            <a:r>
              <a:rPr lang="ko-KR" altLang="en-US" sz="1600" dirty="0">
                <a:ln>
                  <a:solidFill>
                    <a:prstClr val="black">
                      <a:alpha val="30000"/>
                    </a:prstClr>
                  </a:solidFill>
                </a:ln>
                <a:latin typeface="-윤고딕320" panose="02030504000101010101" pitchFamily="18" charset="-127"/>
                <a:ea typeface="-윤고딕320" panose="02030504000101010101" pitchFamily="18" charset="-127"/>
              </a:rPr>
              <a:t>을 이용하여 각 저널의 포맷을 찾아 제거</a:t>
            </a:r>
            <a:endParaRPr lang="en-US" altLang="ko-KR" sz="1600" dirty="0">
              <a:ln>
                <a:solidFill>
                  <a:prstClr val="black">
                    <a:alpha val="30000"/>
                  </a:prstClr>
                </a:solidFill>
              </a:ln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1AA552-EE53-410E-A5AA-5031892929C6}"/>
              </a:ext>
            </a:extLst>
          </p:cNvPr>
          <p:cNvSpPr txBox="1"/>
          <p:nvPr/>
        </p:nvSpPr>
        <p:spPr>
          <a:xfrm>
            <a:off x="1187624" y="5301208"/>
            <a:ext cx="77137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ko-KR" altLang="en-US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기사의 내용이 주로 표인 경우 의미 없는 내용이 대부분을 차지</a:t>
            </a:r>
            <a:endParaRPr kumimoji="0" lang="en-US" altLang="ko-KR" sz="1600" b="0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0BE693-FBFE-42FA-92C7-6FFA8327D0EF}"/>
              </a:ext>
            </a:extLst>
          </p:cNvPr>
          <p:cNvSpPr txBox="1"/>
          <p:nvPr/>
        </p:nvSpPr>
        <p:spPr>
          <a:xfrm>
            <a:off x="1483577" y="5718835"/>
            <a:ext cx="77137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600" dirty="0">
                <a:ln>
                  <a:solidFill>
                    <a:prstClr val="black">
                      <a:alpha val="30000"/>
                    </a:prstClr>
                  </a:solidFill>
                </a:ln>
                <a:latin typeface="-윤고딕320" panose="02030504000101010101" pitchFamily="18" charset="-127"/>
                <a:ea typeface="-윤고딕320" panose="02030504000101010101" pitchFamily="18" charset="-127"/>
              </a:rPr>
              <a:t>(solution) </a:t>
            </a:r>
            <a:r>
              <a:rPr lang="en-US" altLang="ko-KR" sz="1600" dirty="0" err="1">
                <a:ln>
                  <a:solidFill>
                    <a:prstClr val="black">
                      <a:alpha val="30000"/>
                    </a:prstClr>
                  </a:solidFill>
                </a:ln>
                <a:latin typeface="-윤고딕320" panose="02030504000101010101" pitchFamily="18" charset="-127"/>
                <a:ea typeface="-윤고딕320" panose="02030504000101010101" pitchFamily="18" charset="-127"/>
              </a:rPr>
              <a:t>len</a:t>
            </a:r>
            <a:r>
              <a:rPr lang="en-US" altLang="ko-KR" sz="1600" dirty="0">
                <a:ln>
                  <a:solidFill>
                    <a:prstClr val="black">
                      <a:alpha val="30000"/>
                    </a:prstClr>
                  </a:solidFill>
                </a:ln>
                <a:latin typeface="-윤고딕320" panose="02030504000101010101" pitchFamily="18" charset="-127"/>
                <a:ea typeface="-윤고딕320" panose="02030504000101010101" pitchFamily="18" charset="-127"/>
              </a:rPr>
              <a:t>()</a:t>
            </a:r>
            <a:r>
              <a:rPr lang="ko-KR" altLang="en-US" sz="1600" dirty="0">
                <a:ln>
                  <a:solidFill>
                    <a:prstClr val="black">
                      <a:alpha val="30000"/>
                    </a:prstClr>
                  </a:solidFill>
                </a:ln>
                <a:latin typeface="-윤고딕320" panose="02030504000101010101" pitchFamily="18" charset="-127"/>
                <a:ea typeface="-윤고딕320" panose="02030504000101010101" pitchFamily="18" charset="-127"/>
              </a:rPr>
              <a:t>을 이용하여 </a:t>
            </a:r>
            <a:r>
              <a:rPr lang="ko-KR" altLang="en-US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FF0000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기사의 길이가 짧은 경우 제거</a:t>
            </a:r>
            <a:endParaRPr lang="en-US" altLang="ko-KR" sz="160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FF0000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8381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683568" y="-371068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/>
        </p:nvCxnSpPr>
        <p:spPr>
          <a:xfrm flipH="1">
            <a:off x="692540" y="548680"/>
            <a:ext cx="9295796" cy="0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64352" y="143777"/>
            <a:ext cx="1935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Data preprocessing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45712" y="151887"/>
            <a:ext cx="1666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Lexicon Dictionary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-9283" y="875067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각 삼각형 9"/>
          <p:cNvSpPr/>
          <p:nvPr/>
        </p:nvSpPr>
        <p:spPr>
          <a:xfrm rot="5400000">
            <a:off x="691922" y="1205139"/>
            <a:ext cx="81142" cy="1080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107504" y="1340768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504" y="1819563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549" y="882386"/>
            <a:ext cx="541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56571" y="148154"/>
            <a:ext cx="2246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Evaluation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9968" y="150020"/>
            <a:ext cx="1666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Conclusion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E207EF-E35D-4CE3-8836-BD69E70607F0}"/>
              </a:ext>
            </a:extLst>
          </p:cNvPr>
          <p:cNvSpPr txBox="1"/>
          <p:nvPr/>
        </p:nvSpPr>
        <p:spPr>
          <a:xfrm>
            <a:off x="809238" y="875067"/>
            <a:ext cx="39317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30" panose="02030504000101010101" pitchFamily="18" charset="-127"/>
                <a:ea typeface="-윤고딕330" panose="02030504000101010101" pitchFamily="18" charset="-127"/>
                <a:cs typeface="+mn-cs"/>
              </a:rPr>
              <a:t>1. </a:t>
            </a:r>
            <a:r>
              <a:rPr lang="ko-KR" altLang="en-US" sz="22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네이버 뉴스 기사</a:t>
            </a:r>
            <a:endParaRPr kumimoji="0" lang="en-US" altLang="ko-KR" sz="2200" b="0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30" panose="02030504000101010101" pitchFamily="18" charset="-127"/>
              <a:ea typeface="-윤고딕330" panose="02030504000101010101" pitchFamily="18" charset="-127"/>
              <a:cs typeface="+mn-cs"/>
            </a:endParaRPr>
          </a:p>
        </p:txBody>
      </p:sp>
      <p:sp>
        <p:nvSpPr>
          <p:cNvPr id="31" name="갈매기형 수장 14">
            <a:extLst>
              <a:ext uri="{FF2B5EF4-FFF2-40B4-BE49-F238E27FC236}">
                <a16:creationId xmlns:a16="http://schemas.microsoft.com/office/drawing/2014/main" id="{C47AE8B4-F1FB-4345-90D8-EE0206EDBD71}"/>
              </a:ext>
            </a:extLst>
          </p:cNvPr>
          <p:cNvSpPr/>
          <p:nvPr/>
        </p:nvSpPr>
        <p:spPr>
          <a:xfrm>
            <a:off x="1202060" y="1436082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2" name="갈매기형 수장 15">
            <a:extLst>
              <a:ext uri="{FF2B5EF4-FFF2-40B4-BE49-F238E27FC236}">
                <a16:creationId xmlns:a16="http://schemas.microsoft.com/office/drawing/2014/main" id="{583C007B-BC6E-47FE-9808-4C518E941CCF}"/>
              </a:ext>
            </a:extLst>
          </p:cNvPr>
          <p:cNvSpPr/>
          <p:nvPr/>
        </p:nvSpPr>
        <p:spPr>
          <a:xfrm>
            <a:off x="1054409" y="1436082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BED22DA-83B6-4B00-8026-365E4ACAA70A}"/>
              </a:ext>
            </a:extLst>
          </p:cNvPr>
          <p:cNvSpPr txBox="1"/>
          <p:nvPr/>
        </p:nvSpPr>
        <p:spPr>
          <a:xfrm>
            <a:off x="1457125" y="1268760"/>
            <a:ext cx="7713721" cy="755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replace 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함수와 정규 표현식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(Regular Expression)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을 이용하여 기사 내용만을 추출 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(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특수 문자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, 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불필요한 반복 내용 일일이 제거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), 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약 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60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줄의 </a:t>
            </a:r>
            <a:r>
              <a:rPr lang="ko-KR" altLang="en-US" sz="1500" dirty="0" err="1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전처리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 </a:t>
            </a:r>
            <a:endParaRPr kumimoji="0" lang="en-US" altLang="ko-KR" sz="1500" b="0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83BDE296-1AF0-4E63-8B47-19DB4B0414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1486"/>
          <a:stretch/>
        </p:blipFill>
        <p:spPr>
          <a:xfrm>
            <a:off x="1376420" y="2042607"/>
            <a:ext cx="7012004" cy="4698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60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683568" y="-371068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/>
        </p:nvCxnSpPr>
        <p:spPr>
          <a:xfrm flipH="1">
            <a:off x="692540" y="548680"/>
            <a:ext cx="9295796" cy="0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64352" y="143777"/>
            <a:ext cx="1935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Data preprocessing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45712" y="151887"/>
            <a:ext cx="1666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Lexicon Dictionary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-9283" y="875067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각 삼각형 9"/>
          <p:cNvSpPr/>
          <p:nvPr/>
        </p:nvSpPr>
        <p:spPr>
          <a:xfrm rot="5400000">
            <a:off x="691922" y="1205139"/>
            <a:ext cx="81142" cy="1080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107504" y="1340768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504" y="1819563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549" y="882386"/>
            <a:ext cx="541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56571" y="148154"/>
            <a:ext cx="2246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Evaluation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9968" y="150020"/>
            <a:ext cx="1666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Conclusion</a:t>
            </a:r>
          </a:p>
        </p:txBody>
      </p:sp>
      <p:sp>
        <p:nvSpPr>
          <p:cNvPr id="40" name="갈매기형 수장 14">
            <a:extLst>
              <a:ext uri="{FF2B5EF4-FFF2-40B4-BE49-F238E27FC236}">
                <a16:creationId xmlns:a16="http://schemas.microsoft.com/office/drawing/2014/main" id="{DD99EDD9-FB4B-422C-8DFA-F636B05AA725}"/>
              </a:ext>
            </a:extLst>
          </p:cNvPr>
          <p:cNvSpPr/>
          <p:nvPr/>
        </p:nvSpPr>
        <p:spPr>
          <a:xfrm>
            <a:off x="1202060" y="1474381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" name="갈매기형 수장 15">
            <a:extLst>
              <a:ext uri="{FF2B5EF4-FFF2-40B4-BE49-F238E27FC236}">
                <a16:creationId xmlns:a16="http://schemas.microsoft.com/office/drawing/2014/main" id="{317C2704-563B-4252-B046-A84FC6D83940}"/>
              </a:ext>
            </a:extLst>
          </p:cNvPr>
          <p:cNvSpPr/>
          <p:nvPr/>
        </p:nvSpPr>
        <p:spPr>
          <a:xfrm>
            <a:off x="1054409" y="1474381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AFB392-9910-4317-99C5-0AA88EE3AC94}"/>
              </a:ext>
            </a:extLst>
          </p:cNvPr>
          <p:cNvSpPr txBox="1"/>
          <p:nvPr/>
        </p:nvSpPr>
        <p:spPr>
          <a:xfrm>
            <a:off x="1376420" y="1378829"/>
            <a:ext cx="77137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</a:rPr>
              <a:t>20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</a:rPr>
              <a:t>만 여개의 기사를 문장 단위로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</a:rPr>
              <a:t>n-gram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</a:rPr>
              <a:t>화 시킨 결과</a:t>
            </a:r>
            <a:endParaRPr kumimoji="0" lang="en-US" altLang="ko-KR" sz="1600" b="0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E207EF-E35D-4CE3-8836-BD69E70607F0}"/>
              </a:ext>
            </a:extLst>
          </p:cNvPr>
          <p:cNvSpPr txBox="1"/>
          <p:nvPr/>
        </p:nvSpPr>
        <p:spPr>
          <a:xfrm>
            <a:off x="809238" y="875067"/>
            <a:ext cx="39317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30" panose="02030504000101010101" pitchFamily="18" charset="-127"/>
                <a:ea typeface="-윤고딕330" panose="02030504000101010101" pitchFamily="18" charset="-127"/>
                <a:cs typeface="+mn-cs"/>
              </a:rPr>
              <a:t>1. </a:t>
            </a:r>
            <a:r>
              <a:rPr lang="ko-KR" altLang="en-US" sz="22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네이버 뉴스 기사</a:t>
            </a:r>
            <a:endParaRPr kumimoji="0" lang="en-US" altLang="ko-KR" sz="2200" b="0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30" panose="02030504000101010101" pitchFamily="18" charset="-127"/>
              <a:ea typeface="-윤고딕330" panose="02030504000101010101" pitchFamily="18" charset="-127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783EBD-A923-4571-92A0-7FB80D7E6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790" y="2345446"/>
            <a:ext cx="6219825" cy="313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897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683568" y="-371068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/>
        </p:nvCxnSpPr>
        <p:spPr>
          <a:xfrm flipH="1">
            <a:off x="692540" y="548680"/>
            <a:ext cx="9295796" cy="0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64352" y="143777"/>
            <a:ext cx="1935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Data preprocessing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45712" y="151887"/>
            <a:ext cx="1666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Lexicon Dictionary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-9283" y="875067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각 삼각형 9"/>
          <p:cNvSpPr/>
          <p:nvPr/>
        </p:nvSpPr>
        <p:spPr>
          <a:xfrm rot="5400000">
            <a:off x="691922" y="1205139"/>
            <a:ext cx="81142" cy="1080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107504" y="1340768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504" y="1819563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549" y="882386"/>
            <a:ext cx="541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56571" y="148154"/>
            <a:ext cx="2246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Evaluation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9968" y="150020"/>
            <a:ext cx="1666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Conclusion</a:t>
            </a:r>
          </a:p>
        </p:txBody>
      </p:sp>
      <p:sp>
        <p:nvSpPr>
          <p:cNvPr id="40" name="갈매기형 수장 14">
            <a:extLst>
              <a:ext uri="{FF2B5EF4-FFF2-40B4-BE49-F238E27FC236}">
                <a16:creationId xmlns:a16="http://schemas.microsoft.com/office/drawing/2014/main" id="{DD99EDD9-FB4B-422C-8DFA-F636B05AA725}"/>
              </a:ext>
            </a:extLst>
          </p:cNvPr>
          <p:cNvSpPr/>
          <p:nvPr/>
        </p:nvSpPr>
        <p:spPr>
          <a:xfrm>
            <a:off x="1202060" y="1474381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" name="갈매기형 수장 15">
            <a:extLst>
              <a:ext uri="{FF2B5EF4-FFF2-40B4-BE49-F238E27FC236}">
                <a16:creationId xmlns:a16="http://schemas.microsoft.com/office/drawing/2014/main" id="{317C2704-563B-4252-B046-A84FC6D83940}"/>
              </a:ext>
            </a:extLst>
          </p:cNvPr>
          <p:cNvSpPr/>
          <p:nvPr/>
        </p:nvSpPr>
        <p:spPr>
          <a:xfrm>
            <a:off x="1054409" y="1474381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90EE59F-03DD-47C5-9211-1A5806D19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042" y="1835451"/>
            <a:ext cx="8189540" cy="487172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DAFB392-9910-4317-99C5-0AA88EE3AC94}"/>
              </a:ext>
            </a:extLst>
          </p:cNvPr>
          <p:cNvSpPr txBox="1"/>
          <p:nvPr/>
        </p:nvSpPr>
        <p:spPr>
          <a:xfrm>
            <a:off x="1376420" y="1378829"/>
            <a:ext cx="77137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</a:rPr>
              <a:t>20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</a:rPr>
              <a:t>만 여개의 기사를 문장 단위로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</a:rPr>
              <a:t>n-gram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</a:rPr>
              <a:t>화 시킨 결과</a:t>
            </a:r>
            <a:endParaRPr kumimoji="0" lang="en-US" altLang="ko-KR" sz="1600" b="0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E207EF-E35D-4CE3-8836-BD69E70607F0}"/>
              </a:ext>
            </a:extLst>
          </p:cNvPr>
          <p:cNvSpPr txBox="1"/>
          <p:nvPr/>
        </p:nvSpPr>
        <p:spPr>
          <a:xfrm>
            <a:off x="809238" y="875067"/>
            <a:ext cx="39317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30" panose="02030504000101010101" pitchFamily="18" charset="-127"/>
                <a:ea typeface="-윤고딕330" panose="02030504000101010101" pitchFamily="18" charset="-127"/>
                <a:cs typeface="+mn-cs"/>
              </a:rPr>
              <a:t>1. </a:t>
            </a:r>
            <a:r>
              <a:rPr lang="ko-KR" altLang="en-US" sz="22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네이버 뉴스 기사</a:t>
            </a:r>
            <a:endParaRPr kumimoji="0" lang="en-US" altLang="ko-KR" sz="2200" b="0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30" panose="02030504000101010101" pitchFamily="18" charset="-127"/>
              <a:ea typeface="-윤고딕330" panose="02030504000101010101" pitchFamily="18" charset="-127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54B5BF-E8A9-4AA7-9319-FDC2C5623A55}"/>
              </a:ext>
            </a:extLst>
          </p:cNvPr>
          <p:cNvSpPr/>
          <p:nvPr/>
        </p:nvSpPr>
        <p:spPr>
          <a:xfrm>
            <a:off x="825042" y="6453336"/>
            <a:ext cx="794628" cy="260887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159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683568" y="-371068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/>
        </p:nvCxnSpPr>
        <p:spPr>
          <a:xfrm flipH="1">
            <a:off x="692540" y="548680"/>
            <a:ext cx="9295796" cy="0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64352" y="143777"/>
            <a:ext cx="1935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Data preprocessing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45712" y="151887"/>
            <a:ext cx="1666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Lexicon Dictionary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-9283" y="875067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각 삼각형 9"/>
          <p:cNvSpPr/>
          <p:nvPr/>
        </p:nvSpPr>
        <p:spPr>
          <a:xfrm rot="5400000">
            <a:off x="691922" y="1205139"/>
            <a:ext cx="81142" cy="1080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107504" y="1340768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504" y="1819563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549" y="882386"/>
            <a:ext cx="541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56571" y="148154"/>
            <a:ext cx="2246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Evaluation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9968" y="150020"/>
            <a:ext cx="1666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Conclusion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B7F2870-AFC5-4668-8400-EB2FE8DDDD6B}"/>
              </a:ext>
            </a:extLst>
          </p:cNvPr>
          <p:cNvSpPr txBox="1"/>
          <p:nvPr/>
        </p:nvSpPr>
        <p:spPr>
          <a:xfrm>
            <a:off x="1475656" y="2852936"/>
            <a:ext cx="4667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30" panose="02030504000101010101" pitchFamily="18" charset="-127"/>
                <a:ea typeface="-윤고딕330" panose="02030504000101010101" pitchFamily="18" charset="-127"/>
                <a:cs typeface="+mn-cs"/>
              </a:rPr>
              <a:t>기본적인 사항</a:t>
            </a:r>
            <a:endParaRPr kumimoji="0" lang="en-US" altLang="ko-KR" sz="1600" b="0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30" panose="02030504000101010101" pitchFamily="18" charset="-127"/>
              <a:ea typeface="-윤고딕330" panose="02030504000101010101" pitchFamily="18" charset="-127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0626FA5-492B-4048-A6B3-363890FD5840}"/>
              </a:ext>
            </a:extLst>
          </p:cNvPr>
          <p:cNvSpPr txBox="1"/>
          <p:nvPr/>
        </p:nvSpPr>
        <p:spPr>
          <a:xfrm>
            <a:off x="1267603" y="3177395"/>
            <a:ext cx="7713721" cy="4090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15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</a:rPr>
              <a:t>개수</a:t>
            </a:r>
            <a:r>
              <a:rPr kumimoji="0" lang="ko-KR" altLang="en-US" sz="1500" b="0" i="0" u="none" strike="noStrike" kern="1200" cap="none" spc="0" normalizeH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</a:rPr>
              <a:t> </a:t>
            </a:r>
            <a:r>
              <a:rPr kumimoji="0" lang="en-US" altLang="ko-KR" sz="1500" b="0" i="0" u="none" strike="noStrike" kern="1200" cap="none" spc="0" normalizeH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</a:rPr>
              <a:t>: 3,078</a:t>
            </a:r>
            <a:r>
              <a:rPr kumimoji="0" lang="ko-KR" altLang="en-US" sz="1500" b="0" i="0" u="none" strike="noStrike" kern="1200" cap="none" spc="0" normalizeH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</a:rPr>
              <a:t>개 </a:t>
            </a:r>
            <a:endParaRPr kumimoji="0" lang="en-US" altLang="ko-KR" sz="1500" b="0" i="0" u="none" strike="noStrike" kern="1200" cap="none" spc="0" normalizeH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sp>
        <p:nvSpPr>
          <p:cNvPr id="40" name="갈매기형 수장 14">
            <a:extLst>
              <a:ext uri="{FF2B5EF4-FFF2-40B4-BE49-F238E27FC236}">
                <a16:creationId xmlns:a16="http://schemas.microsoft.com/office/drawing/2014/main" id="{DD99EDD9-FB4B-422C-8DFA-F636B05AA725}"/>
              </a:ext>
            </a:extLst>
          </p:cNvPr>
          <p:cNvSpPr/>
          <p:nvPr/>
        </p:nvSpPr>
        <p:spPr>
          <a:xfrm>
            <a:off x="1274873" y="2952173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" name="갈매기형 수장 15">
            <a:extLst>
              <a:ext uri="{FF2B5EF4-FFF2-40B4-BE49-F238E27FC236}">
                <a16:creationId xmlns:a16="http://schemas.microsoft.com/office/drawing/2014/main" id="{317C2704-563B-4252-B046-A84FC6D83940}"/>
              </a:ext>
            </a:extLst>
          </p:cNvPr>
          <p:cNvSpPr/>
          <p:nvPr/>
        </p:nvSpPr>
        <p:spPr>
          <a:xfrm>
            <a:off x="1127222" y="2952173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E207EF-E35D-4CE3-8836-BD69E70607F0}"/>
              </a:ext>
            </a:extLst>
          </p:cNvPr>
          <p:cNvSpPr txBox="1"/>
          <p:nvPr/>
        </p:nvSpPr>
        <p:spPr>
          <a:xfrm>
            <a:off x="809238" y="875067"/>
            <a:ext cx="39317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30" panose="02030504000101010101" pitchFamily="18" charset="-127"/>
                <a:ea typeface="-윤고딕330" panose="02030504000101010101" pitchFamily="18" charset="-127"/>
                <a:cs typeface="+mn-cs"/>
              </a:rPr>
              <a:t>2. </a:t>
            </a:r>
            <a:r>
              <a:rPr lang="ko-KR" altLang="en-US" sz="22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채권분석보고서</a:t>
            </a:r>
            <a:endParaRPr kumimoji="0" lang="en-US" altLang="ko-KR" sz="2200" b="0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30" panose="02030504000101010101" pitchFamily="18" charset="-127"/>
              <a:ea typeface="-윤고딕330" panose="02030504000101010101" pitchFamily="18" charset="-127"/>
              <a:cs typeface="+mn-c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00C9035-BC95-4A61-A2C7-EE0C7A0373B1}"/>
              </a:ext>
            </a:extLst>
          </p:cNvPr>
          <p:cNvSpPr txBox="1"/>
          <p:nvPr/>
        </p:nvSpPr>
        <p:spPr>
          <a:xfrm>
            <a:off x="1043608" y="1395006"/>
            <a:ext cx="7713721" cy="19074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ko-KR" altLang="en-US" sz="1600" dirty="0" err="1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크롤링</a:t>
            </a:r>
            <a:r>
              <a:rPr lang="ko-KR" altLang="en-US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 방법</a:t>
            </a:r>
            <a:r>
              <a:rPr lang="en-US" altLang="ko-KR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: </a:t>
            </a:r>
            <a:r>
              <a:rPr lang="en-US" altLang="ko-KR" sz="1600" dirty="0" err="1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BeautifulSoup</a:t>
            </a:r>
            <a:endParaRPr lang="en-US" altLang="ko-KR" sz="160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  <a:p>
            <a:pPr marR="0" lvl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  <a:sym typeface="Wingdings" panose="05000000000000000000" pitchFamily="2" charset="2"/>
              </a:rPr>
              <a:t>      </a:t>
            </a:r>
            <a:r>
              <a:rPr lang="en-US" altLang="ko-KR" sz="1600" dirty="0" err="1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  <a:sym typeface="Wingdings" panose="05000000000000000000" pitchFamily="2" charset="2"/>
              </a:rPr>
              <a:t>BeautifulSoup</a:t>
            </a:r>
            <a:r>
              <a:rPr lang="ko-KR" altLang="en-US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  <a:sym typeface="Wingdings" panose="05000000000000000000" pitchFamily="2" charset="2"/>
              </a:rPr>
              <a:t>를 이용하여 각</a:t>
            </a:r>
            <a:r>
              <a:rPr lang="en-US" altLang="ko-KR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  <a:sym typeface="Wingdings" panose="05000000000000000000" pitchFamily="2" charset="2"/>
              </a:rPr>
              <a:t> pdf</a:t>
            </a:r>
            <a:r>
              <a:rPr lang="ko-KR" altLang="en-US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  <a:sym typeface="Wingdings" panose="05000000000000000000" pitchFamily="2" charset="2"/>
              </a:rPr>
              <a:t>의 </a:t>
            </a:r>
            <a:r>
              <a:rPr lang="en-US" altLang="ko-KR" sz="1600" dirty="0" err="1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  <a:sym typeface="Wingdings" panose="05000000000000000000" pitchFamily="2" charset="2"/>
              </a:rPr>
              <a:t>url</a:t>
            </a:r>
            <a:r>
              <a:rPr lang="ko-KR" altLang="en-US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  <a:sym typeface="Wingdings" panose="05000000000000000000" pitchFamily="2" charset="2"/>
              </a:rPr>
              <a:t>을 모으고</a:t>
            </a:r>
            <a:r>
              <a:rPr lang="en-US" altLang="ko-KR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  <a:sym typeface="Wingdings" panose="05000000000000000000" pitchFamily="2" charset="2"/>
              </a:rPr>
              <a:t>, </a:t>
            </a:r>
            <a:r>
              <a:rPr lang="ko-KR" altLang="en-US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  <a:sym typeface="Wingdings" panose="05000000000000000000" pitchFamily="2" charset="2"/>
              </a:rPr>
              <a:t>이를 활용하여 </a:t>
            </a:r>
            <a:r>
              <a:rPr lang="ko-KR" altLang="en-US" sz="1600" dirty="0" err="1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  <a:sym typeface="Wingdings" panose="05000000000000000000" pitchFamily="2" charset="2"/>
              </a:rPr>
              <a:t>크롤링</a:t>
            </a:r>
            <a:r>
              <a:rPr lang="ko-KR" altLang="en-US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  <a:sym typeface="Wingdings" panose="05000000000000000000" pitchFamily="2" charset="2"/>
              </a:rPr>
              <a:t> 한 뒤</a:t>
            </a:r>
            <a:r>
              <a:rPr lang="en-US" altLang="ko-KR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  <a:sym typeface="Wingdings" panose="05000000000000000000" pitchFamily="2" charset="2"/>
              </a:rPr>
              <a:t>	request</a:t>
            </a:r>
            <a:r>
              <a:rPr lang="ko-KR" altLang="en-US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  <a:sym typeface="Wingdings" panose="05000000000000000000" pitchFamily="2" charset="2"/>
              </a:rPr>
              <a:t>의 </a:t>
            </a:r>
            <a:r>
              <a:rPr lang="en-US" altLang="ko-KR" sz="1600" dirty="0" err="1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  <a:sym typeface="Wingdings" panose="05000000000000000000" pitchFamily="2" charset="2"/>
              </a:rPr>
              <a:t>urlretrieve</a:t>
            </a:r>
            <a:r>
              <a:rPr lang="en-US" altLang="ko-KR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  <a:sym typeface="Wingdings" panose="05000000000000000000" pitchFamily="2" charset="2"/>
              </a:rPr>
              <a:t> </a:t>
            </a:r>
            <a:r>
              <a:rPr lang="ko-KR" altLang="en-US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  <a:sym typeface="Wingdings" panose="05000000000000000000" pitchFamily="2" charset="2"/>
              </a:rPr>
              <a:t>함수를 사용하여 저장</a:t>
            </a:r>
            <a:r>
              <a:rPr lang="en-US" altLang="ko-KR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  <a:sym typeface="Wingdings" panose="05000000000000000000" pitchFamily="2" charset="2"/>
              </a:rPr>
              <a:t>. </a:t>
            </a:r>
          </a:p>
          <a:p>
            <a:pPr marR="0" lvl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ko-KR" sz="160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  <a:sym typeface="Wingdings" panose="05000000000000000000" pitchFamily="2" charset="2"/>
            </a:endParaRPr>
          </a:p>
          <a:p>
            <a:pPr marR="0" lvl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ko-KR" sz="160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A8127E-9C06-445C-8DD2-78B618C544D6}"/>
              </a:ext>
            </a:extLst>
          </p:cNvPr>
          <p:cNvSpPr txBox="1"/>
          <p:nvPr/>
        </p:nvSpPr>
        <p:spPr>
          <a:xfrm>
            <a:off x="1477695" y="4125110"/>
            <a:ext cx="4667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전처리 시 어려웠던 점</a:t>
            </a:r>
            <a:endParaRPr kumimoji="0" lang="en-US" altLang="ko-KR" sz="1600" b="0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30" panose="02030504000101010101" pitchFamily="18" charset="-127"/>
              <a:ea typeface="-윤고딕330" panose="02030504000101010101" pitchFamily="18" charset="-127"/>
              <a:cs typeface="+mn-cs"/>
            </a:endParaRPr>
          </a:p>
        </p:txBody>
      </p:sp>
      <p:sp>
        <p:nvSpPr>
          <p:cNvPr id="29" name="갈매기형 수장 14">
            <a:extLst>
              <a:ext uri="{FF2B5EF4-FFF2-40B4-BE49-F238E27FC236}">
                <a16:creationId xmlns:a16="http://schemas.microsoft.com/office/drawing/2014/main" id="{3E04A198-AA3C-4958-95E8-2C6AAC32F518}"/>
              </a:ext>
            </a:extLst>
          </p:cNvPr>
          <p:cNvSpPr/>
          <p:nvPr/>
        </p:nvSpPr>
        <p:spPr>
          <a:xfrm>
            <a:off x="1276912" y="4224347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1" name="갈매기형 수장 15">
            <a:extLst>
              <a:ext uri="{FF2B5EF4-FFF2-40B4-BE49-F238E27FC236}">
                <a16:creationId xmlns:a16="http://schemas.microsoft.com/office/drawing/2014/main" id="{839241B3-3646-431B-81FE-E4C684CA9BA7}"/>
              </a:ext>
            </a:extLst>
          </p:cNvPr>
          <p:cNvSpPr/>
          <p:nvPr/>
        </p:nvSpPr>
        <p:spPr>
          <a:xfrm>
            <a:off x="1129261" y="4224347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43AAEA7-3DDF-4E72-81E8-2D3879F6C892}"/>
              </a:ext>
            </a:extLst>
          </p:cNvPr>
          <p:cNvSpPr txBox="1"/>
          <p:nvPr/>
        </p:nvSpPr>
        <p:spPr>
          <a:xfrm>
            <a:off x="1230954" y="4537873"/>
            <a:ext cx="77137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ko-KR" altLang="en-US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증권사별로</a:t>
            </a:r>
            <a:r>
              <a:rPr lang="en-US" altLang="ko-KR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, </a:t>
            </a:r>
            <a:r>
              <a:rPr lang="ko-KR" altLang="en-US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같은 증권사 안에서도 연도별로 작성 양식이 다름</a:t>
            </a:r>
            <a:endParaRPr lang="en-US" altLang="ko-KR" sz="160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ko-KR" sz="160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</a:rPr>
              <a:t>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  <a:sym typeface="Wingdings" panose="05000000000000000000" pitchFamily="2" charset="2"/>
              </a:rPr>
              <a:t>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  <a:sym typeface="Wingdings" panose="05000000000000000000" pitchFamily="2" charset="2"/>
              </a:rPr>
              <a:t>증권사별로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  <a:sym typeface="Wingdings" panose="05000000000000000000" pitchFamily="2" charset="2"/>
              </a:rPr>
              <a:t>,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  <a:sym typeface="Wingdings" panose="05000000000000000000" pitchFamily="2" charset="2"/>
              </a:rPr>
              <a:t>연도별로 다르게 처리 함</a:t>
            </a:r>
            <a:endParaRPr kumimoji="0" lang="en-US" altLang="ko-KR" sz="1600" b="0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338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683568" y="-371068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/>
        </p:nvCxnSpPr>
        <p:spPr>
          <a:xfrm flipH="1">
            <a:off x="692540" y="548680"/>
            <a:ext cx="9295796" cy="0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64352" y="143777"/>
            <a:ext cx="1935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Data preprocessing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45712" y="151887"/>
            <a:ext cx="1666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Lexicon Dictionary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-9283" y="875067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각 삼각형 9"/>
          <p:cNvSpPr/>
          <p:nvPr/>
        </p:nvSpPr>
        <p:spPr>
          <a:xfrm rot="5400000">
            <a:off x="691922" y="1205139"/>
            <a:ext cx="81142" cy="1080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107504" y="1340768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504" y="1819563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549" y="882386"/>
            <a:ext cx="541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56571" y="148154"/>
            <a:ext cx="2246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Evaluation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9968" y="150020"/>
            <a:ext cx="1666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Conclusion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E207EF-E35D-4CE3-8836-BD69E70607F0}"/>
              </a:ext>
            </a:extLst>
          </p:cNvPr>
          <p:cNvSpPr txBox="1"/>
          <p:nvPr/>
        </p:nvSpPr>
        <p:spPr>
          <a:xfrm>
            <a:off x="809238" y="875067"/>
            <a:ext cx="39317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30" panose="02030504000101010101" pitchFamily="18" charset="-127"/>
                <a:ea typeface="-윤고딕330" panose="02030504000101010101" pitchFamily="18" charset="-127"/>
                <a:cs typeface="+mn-cs"/>
              </a:rPr>
              <a:t>2. </a:t>
            </a:r>
            <a:r>
              <a:rPr lang="ko-KR" altLang="en-US" sz="22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채권분석보고서</a:t>
            </a:r>
            <a:endParaRPr kumimoji="0" lang="en-US" altLang="ko-KR" sz="2200" b="0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30" panose="02030504000101010101" pitchFamily="18" charset="-127"/>
              <a:ea typeface="-윤고딕330" panose="02030504000101010101" pitchFamily="18" charset="-127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30D4980-7F67-48E7-92E3-B0E241AD2437}"/>
              </a:ext>
            </a:extLst>
          </p:cNvPr>
          <p:cNvSpPr txBox="1"/>
          <p:nvPr/>
        </p:nvSpPr>
        <p:spPr>
          <a:xfrm>
            <a:off x="1342441" y="1413023"/>
            <a:ext cx="4667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전처리 시 어려웠던 점</a:t>
            </a:r>
            <a:endParaRPr kumimoji="0" lang="en-US" altLang="ko-KR" sz="1600" b="0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30" panose="02030504000101010101" pitchFamily="18" charset="-127"/>
              <a:ea typeface="-윤고딕330" panose="02030504000101010101" pitchFamily="18" charset="-127"/>
              <a:cs typeface="+mn-cs"/>
            </a:endParaRPr>
          </a:p>
        </p:txBody>
      </p:sp>
      <p:sp>
        <p:nvSpPr>
          <p:cNvPr id="31" name="갈매기형 수장 14">
            <a:extLst>
              <a:ext uri="{FF2B5EF4-FFF2-40B4-BE49-F238E27FC236}">
                <a16:creationId xmlns:a16="http://schemas.microsoft.com/office/drawing/2014/main" id="{A6FD824D-5FA2-4499-A655-8FA05A139FED}"/>
              </a:ext>
            </a:extLst>
          </p:cNvPr>
          <p:cNvSpPr/>
          <p:nvPr/>
        </p:nvSpPr>
        <p:spPr>
          <a:xfrm>
            <a:off x="1141658" y="1512260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2" name="갈매기형 수장 15">
            <a:extLst>
              <a:ext uri="{FF2B5EF4-FFF2-40B4-BE49-F238E27FC236}">
                <a16:creationId xmlns:a16="http://schemas.microsoft.com/office/drawing/2014/main" id="{E1BB6ADD-24CD-4157-912C-BFBA765C2022}"/>
              </a:ext>
            </a:extLst>
          </p:cNvPr>
          <p:cNvSpPr/>
          <p:nvPr/>
        </p:nvSpPr>
        <p:spPr>
          <a:xfrm>
            <a:off x="994007" y="1512260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D667F8C-80E1-4206-B089-2A620645F604}"/>
              </a:ext>
            </a:extLst>
          </p:cNvPr>
          <p:cNvSpPr txBox="1"/>
          <p:nvPr/>
        </p:nvSpPr>
        <p:spPr>
          <a:xfrm>
            <a:off x="1065665" y="1970471"/>
            <a:ext cx="771372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ko-KR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  <a:sym typeface="Wingdings" panose="05000000000000000000" pitchFamily="2" charset="2"/>
              </a:rPr>
              <a:t>Pdf</a:t>
            </a:r>
            <a:r>
              <a:rPr lang="ko-KR" altLang="en-US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  <a:sym typeface="Wingdings" panose="05000000000000000000" pitchFamily="2" charset="2"/>
              </a:rPr>
              <a:t>를 읽어오는 과정에서 표 부분의 문자열이</a:t>
            </a:r>
            <a:r>
              <a:rPr lang="en-US" altLang="ko-KR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  <a:sym typeface="Wingdings" panose="05000000000000000000" pitchFamily="2" charset="2"/>
              </a:rPr>
              <a:t>‘</a:t>
            </a:r>
            <a:r>
              <a:rPr lang="ko-KR" altLang="en-US" sz="1600" dirty="0" err="1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  <a:sym typeface="Wingdings" panose="05000000000000000000" pitchFamily="2" charset="2"/>
              </a:rPr>
              <a:t>중소중소중소중소</a:t>
            </a:r>
            <a:r>
              <a:rPr lang="en-US" altLang="ko-KR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  <a:sym typeface="Wingdings" panose="05000000000000000000" pitchFamily="2" charset="2"/>
              </a:rPr>
              <a:t>’</a:t>
            </a:r>
            <a:r>
              <a:rPr lang="ko-KR" altLang="en-US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  <a:sym typeface="Wingdings" panose="05000000000000000000" pitchFamily="2" charset="2"/>
              </a:rPr>
              <a:t>와</a:t>
            </a:r>
            <a:r>
              <a:rPr lang="en-US" altLang="ko-KR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  <a:sym typeface="Wingdings" panose="05000000000000000000" pitchFamily="2" charset="2"/>
              </a:rPr>
              <a:t> </a:t>
            </a:r>
            <a:r>
              <a:rPr lang="ko-KR" altLang="en-US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  <a:sym typeface="Wingdings" panose="05000000000000000000" pitchFamily="2" charset="2"/>
              </a:rPr>
              <a:t>같이 반복되는 단어로 표시 됨</a:t>
            </a:r>
            <a:endParaRPr lang="en-US" altLang="ko-KR" sz="160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  <a:sym typeface="Wingdings" panose="05000000000000000000" pitchFamily="2" charset="2"/>
            </a:endParaRPr>
          </a:p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ko-KR" sz="160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  <a:sym typeface="Wingdings" panose="05000000000000000000" pitchFamily="2" charset="2"/>
            </a:endParaRPr>
          </a:p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  <a:sym typeface="Wingdings" panose="05000000000000000000" pitchFamily="2" charset="2"/>
              </a:rPr>
              <a:t>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  <a:sym typeface="Wingdings" panose="05000000000000000000" pitchFamily="2" charset="2"/>
              </a:rPr>
              <a:t>반복되는 단어를 포함하는 문자열이 유일한 단어를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  <a:sym typeface="Wingdings" panose="05000000000000000000" pitchFamily="2" charset="2"/>
              </a:rPr>
              <a:t>뱉어내는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  <a:sym typeface="Wingdings" panose="05000000000000000000" pitchFamily="2" charset="2"/>
              </a:rPr>
              <a:t> 함수 작성</a:t>
            </a:r>
            <a:endParaRPr kumimoji="0" lang="en-US" altLang="ko-KR" sz="1600" b="0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1DD886D-EE65-49D9-8128-C361BD05E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772" y="3266583"/>
            <a:ext cx="7382391" cy="260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385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683568" y="-371068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/>
        </p:nvCxnSpPr>
        <p:spPr>
          <a:xfrm flipH="1">
            <a:off x="692540" y="548680"/>
            <a:ext cx="9295796" cy="0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64352" y="143777"/>
            <a:ext cx="1935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Data preprocessing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45712" y="151887"/>
            <a:ext cx="1666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Lexicon Dictionary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-9283" y="875067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각 삼각형 9"/>
          <p:cNvSpPr/>
          <p:nvPr/>
        </p:nvSpPr>
        <p:spPr>
          <a:xfrm rot="5400000">
            <a:off x="691922" y="1205139"/>
            <a:ext cx="81142" cy="1080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107504" y="1340768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504" y="1819563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549" y="882386"/>
            <a:ext cx="541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56571" y="148154"/>
            <a:ext cx="2246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Evaluation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9968" y="150020"/>
            <a:ext cx="1666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Conclusion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E207EF-E35D-4CE3-8836-BD69E70607F0}"/>
              </a:ext>
            </a:extLst>
          </p:cNvPr>
          <p:cNvSpPr txBox="1"/>
          <p:nvPr/>
        </p:nvSpPr>
        <p:spPr>
          <a:xfrm>
            <a:off x="809238" y="875067"/>
            <a:ext cx="39317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30" panose="02030504000101010101" pitchFamily="18" charset="-127"/>
                <a:ea typeface="-윤고딕330" panose="02030504000101010101" pitchFamily="18" charset="-127"/>
                <a:cs typeface="+mn-cs"/>
              </a:rPr>
              <a:t>2. </a:t>
            </a:r>
            <a:r>
              <a:rPr lang="ko-KR" altLang="en-US" sz="22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채권분석보고서</a:t>
            </a:r>
            <a:endParaRPr kumimoji="0" lang="en-US" altLang="ko-KR" sz="2200" b="0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30" panose="02030504000101010101" pitchFamily="18" charset="-127"/>
              <a:ea typeface="-윤고딕330" panose="02030504000101010101" pitchFamily="18" charset="-127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30D4980-7F67-48E7-92E3-B0E241AD2437}"/>
              </a:ext>
            </a:extLst>
          </p:cNvPr>
          <p:cNvSpPr txBox="1"/>
          <p:nvPr/>
        </p:nvSpPr>
        <p:spPr>
          <a:xfrm>
            <a:off x="1342441" y="1413023"/>
            <a:ext cx="4667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전처리 시 어려웠던 점</a:t>
            </a:r>
            <a:endParaRPr kumimoji="0" lang="en-US" altLang="ko-KR" sz="1600" b="0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30" panose="02030504000101010101" pitchFamily="18" charset="-127"/>
              <a:ea typeface="-윤고딕330" panose="02030504000101010101" pitchFamily="18" charset="-127"/>
              <a:cs typeface="+mn-cs"/>
            </a:endParaRPr>
          </a:p>
        </p:txBody>
      </p:sp>
      <p:sp>
        <p:nvSpPr>
          <p:cNvPr id="31" name="갈매기형 수장 14">
            <a:extLst>
              <a:ext uri="{FF2B5EF4-FFF2-40B4-BE49-F238E27FC236}">
                <a16:creationId xmlns:a16="http://schemas.microsoft.com/office/drawing/2014/main" id="{A6FD824D-5FA2-4499-A655-8FA05A139FED}"/>
              </a:ext>
            </a:extLst>
          </p:cNvPr>
          <p:cNvSpPr/>
          <p:nvPr/>
        </p:nvSpPr>
        <p:spPr>
          <a:xfrm>
            <a:off x="1141658" y="1512260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2" name="갈매기형 수장 15">
            <a:extLst>
              <a:ext uri="{FF2B5EF4-FFF2-40B4-BE49-F238E27FC236}">
                <a16:creationId xmlns:a16="http://schemas.microsoft.com/office/drawing/2014/main" id="{E1BB6ADD-24CD-4157-912C-BFBA765C2022}"/>
              </a:ext>
            </a:extLst>
          </p:cNvPr>
          <p:cNvSpPr/>
          <p:nvPr/>
        </p:nvSpPr>
        <p:spPr>
          <a:xfrm>
            <a:off x="994007" y="1512260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0277CC3-CE5B-450F-A0DE-0A8A8572B1A8}"/>
              </a:ext>
            </a:extLst>
          </p:cNvPr>
          <p:cNvSpPr txBox="1"/>
          <p:nvPr/>
        </p:nvSpPr>
        <p:spPr>
          <a:xfrm>
            <a:off x="1095700" y="1825786"/>
            <a:ext cx="771372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</a:rPr>
              <a:t>.</a:t>
            </a:r>
            <a:r>
              <a:rPr lang="ko-KR" altLang="en-US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을 처리하는 문제 </a:t>
            </a:r>
            <a:endParaRPr lang="en-US" altLang="ko-KR" sz="160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ko-KR" sz="160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B0600000101010101" charset="-127"/>
                <a:ea typeface="-윤고딕320" panose="020B0600000101010101" charset="-127"/>
              </a:rPr>
              <a:t> 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B0600000101010101" charset="-127"/>
                <a:ea typeface="-윤고딕320" panose="020B0600000101010101" charset="-127"/>
              </a:rPr>
              <a:t>추후 문장 분리를 위해 영어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B0600000101010101" charset="-127"/>
                <a:ea typeface="-윤고딕320" panose="020B0600000101010101" charset="-127"/>
              </a:rPr>
              <a:t>,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B0600000101010101" charset="-127"/>
                <a:ea typeface="-윤고딕320" panose="020B0600000101010101" charset="-127"/>
              </a:rPr>
              <a:t>한자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B0600000101010101" charset="-127"/>
                <a:ea typeface="-윤고딕320" panose="020B0600000101010101" charset="-127"/>
              </a:rPr>
              <a:t>,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B0600000101010101" charset="-127"/>
                <a:ea typeface="-윤고딕320" panose="020B0600000101010101" charset="-127"/>
              </a:rPr>
              <a:t>기호 등을 지우는 과정에서 온점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B0600000101010101" charset="-127"/>
                <a:ea typeface="-윤고딕320" panose="020B0600000101010101" charset="-127"/>
              </a:rPr>
              <a:t>(.)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B0600000101010101" charset="-127"/>
                <a:ea typeface="-윤고딕320" panose="020B0600000101010101" charset="-127"/>
              </a:rPr>
              <a:t>은 살리고자 하였는데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B0600000101010101" charset="-127"/>
                <a:ea typeface="-윤고딕320" panose="020B0600000101010101" charset="-127"/>
              </a:rPr>
              <a:t>,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B0600000101010101" charset="-127"/>
                <a:ea typeface="-윤고딕320" panose="020B0600000101010101" charset="-127"/>
              </a:rPr>
              <a:t>이 때 소수점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B0600000101010101" charset="-127"/>
                <a:ea typeface="-윤고딕320" panose="020B0600000101010101" charset="-127"/>
              </a:rPr>
              <a:t>,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B0600000101010101" charset="-127"/>
                <a:ea typeface="-윤고딕320" panose="020B0600000101010101" charset="-127"/>
              </a:rPr>
              <a:t>대단원 표시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B0600000101010101" charset="-127"/>
                <a:ea typeface="-윤고딕320" panose="020B0600000101010101" charset="-127"/>
              </a:rPr>
              <a:t>(02.),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B0600000101010101" charset="-127"/>
                <a:ea typeface="-윤고딕320" panose="020B0600000101010101" charset="-127"/>
              </a:rPr>
              <a:t>메일 양식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B0600000101010101" charset="-127"/>
                <a:ea typeface="-윤고딕320" panose="020B0600000101010101" charset="-127"/>
              </a:rPr>
              <a:t>(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B0600000101010101" charset="-127"/>
                <a:ea typeface="-윤고딕320" panose="020B0600000101010101" charset="-127"/>
                <a:hlinkClick r:id="rId2"/>
              </a:rPr>
              <a:t>abc123@gmail.com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B0600000101010101" charset="-127"/>
                <a:ea typeface="-윤고딕320" panose="020B0600000101010101" charset="-127"/>
              </a:rPr>
              <a:t>)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B0600000101010101" charset="-127"/>
                <a:ea typeface="-윤고딕320" panose="020B0600000101010101" charset="-127"/>
              </a:rPr>
              <a:t>등의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B0600000101010101" charset="-127"/>
                <a:ea typeface="-윤고딕320" panose="020B0600000101010101" charset="-127"/>
              </a:rPr>
              <a:t>.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B0600000101010101" charset="-127"/>
                <a:ea typeface="-윤고딕320" panose="020B0600000101010101" charset="-127"/>
              </a:rPr>
              <a:t>이 남아있는 문제가 발생 함 </a:t>
            </a:r>
            <a:endParaRPr kumimoji="0" lang="en-US" altLang="ko-KR" sz="1600" b="0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20" panose="020B0600000101010101" charset="-127"/>
              <a:ea typeface="-윤고딕320" panose="020B0600000101010101" charset="-127"/>
            </a:endParaRPr>
          </a:p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ko-KR" sz="160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latin typeface="-윤고딕320" panose="020B0600000101010101" charset="-127"/>
              <a:ea typeface="-윤고딕320" panose="020B0600000101010101" charset="-127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à"/>
              <a:tabLst/>
              <a:defRPr/>
            </a:pPr>
            <a:r>
              <a:rPr lang="ko-KR" altLang="en-US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B0600000101010101" charset="-127"/>
                <a:ea typeface="-윤고딕320" panose="020B0600000101010101" charset="-127"/>
                <a:sym typeface="Wingdings" panose="05000000000000000000" pitchFamily="2" charset="2"/>
              </a:rPr>
              <a:t>처음에는 모든 예외를 정규식으로 작성하여 먼저 삭제하고자 하였으나 비효율적이라고 생각 함</a:t>
            </a:r>
            <a:r>
              <a:rPr lang="en-US" altLang="ko-KR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B0600000101010101" charset="-127"/>
                <a:ea typeface="-윤고딕320" panose="020B0600000101010101" charset="-127"/>
                <a:sym typeface="Wingdings" panose="05000000000000000000" pitchFamily="2" charset="2"/>
              </a:rPr>
              <a:t>.</a:t>
            </a:r>
          </a:p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B0600000101010101" charset="-127"/>
                <a:ea typeface="-윤고딕320" panose="020B0600000101010101" charset="-127"/>
                <a:sym typeface="Wingdings" panose="05000000000000000000" pitchFamily="2" charset="2"/>
              </a:rPr>
              <a:t> .</a:t>
            </a:r>
            <a:r>
              <a:rPr lang="ko-KR" altLang="en-US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B0600000101010101" charset="-127"/>
                <a:ea typeface="-윤고딕320" panose="020B0600000101010101" charset="-127"/>
                <a:sym typeface="Wingdings" panose="05000000000000000000" pitchFamily="2" charset="2"/>
              </a:rPr>
              <a:t>를 기준으로 </a:t>
            </a:r>
            <a:r>
              <a:rPr lang="en-US" altLang="ko-KR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B0600000101010101" charset="-127"/>
                <a:ea typeface="-윤고딕320" panose="020B0600000101010101" charset="-127"/>
                <a:sym typeface="Wingdings" panose="05000000000000000000" pitchFamily="2" charset="2"/>
              </a:rPr>
              <a:t>split</a:t>
            </a:r>
            <a:r>
              <a:rPr lang="ko-KR" altLang="en-US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B0600000101010101" charset="-127"/>
                <a:ea typeface="-윤고딕320" panose="020B0600000101010101" charset="-127"/>
                <a:sym typeface="Wingdings" panose="05000000000000000000" pitchFamily="2" charset="2"/>
              </a:rPr>
              <a:t>한 원소들 중 공백을 제외하고 다시 붙여 줌</a:t>
            </a:r>
            <a:r>
              <a:rPr lang="en-US" altLang="ko-KR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B0600000101010101" charset="-127"/>
                <a:ea typeface="-윤고딕320" panose="020B0600000101010101" charset="-127"/>
                <a:sym typeface="Wingdings" panose="05000000000000000000" pitchFamily="2" charset="2"/>
              </a:rPr>
              <a:t>.</a:t>
            </a:r>
            <a:endParaRPr lang="en-US" altLang="ko-KR" sz="160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latin typeface="-윤고딕320" panose="020B0600000101010101" charset="-127"/>
              <a:ea typeface="-윤고딕320" panose="020B0600000101010101" charset="-127"/>
            </a:endParaRPr>
          </a:p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ko-KR" sz="1600" b="0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3DD95A8-D779-4F80-A1BF-1F7CFAD6D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6420" y="1340768"/>
            <a:ext cx="7397306" cy="521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597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683568" y="-371068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/>
        </p:nvCxnSpPr>
        <p:spPr>
          <a:xfrm flipH="1">
            <a:off x="692540" y="548680"/>
            <a:ext cx="9295796" cy="0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64352" y="143777"/>
            <a:ext cx="1935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Data preprocessing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45712" y="151887"/>
            <a:ext cx="1666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Lexicon Dictionary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-9283" y="875067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각 삼각형 9"/>
          <p:cNvSpPr/>
          <p:nvPr/>
        </p:nvSpPr>
        <p:spPr>
          <a:xfrm rot="5400000">
            <a:off x="691922" y="1205139"/>
            <a:ext cx="81142" cy="1080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107504" y="1340768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504" y="1819563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549" y="882386"/>
            <a:ext cx="541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56571" y="148154"/>
            <a:ext cx="2246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Evaluation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9968" y="150020"/>
            <a:ext cx="1666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Conclusion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B7F2870-AFC5-4668-8400-EB2FE8DDDD6B}"/>
              </a:ext>
            </a:extLst>
          </p:cNvPr>
          <p:cNvSpPr txBox="1"/>
          <p:nvPr/>
        </p:nvSpPr>
        <p:spPr>
          <a:xfrm>
            <a:off x="1356885" y="1907813"/>
            <a:ext cx="4667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30" panose="02030504000101010101" pitchFamily="18" charset="-127"/>
                <a:ea typeface="-윤고딕330" panose="02030504000101010101" pitchFamily="18" charset="-127"/>
                <a:cs typeface="+mn-cs"/>
              </a:rPr>
              <a:t>기본적인 사항</a:t>
            </a:r>
            <a:endParaRPr kumimoji="0" lang="en-US" altLang="ko-KR" sz="1600" b="0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30" panose="02030504000101010101" pitchFamily="18" charset="-127"/>
              <a:ea typeface="-윤고딕330" panose="02030504000101010101" pitchFamily="18" charset="-127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0626FA5-492B-4048-A6B3-363890FD5840}"/>
              </a:ext>
            </a:extLst>
          </p:cNvPr>
          <p:cNvSpPr txBox="1"/>
          <p:nvPr/>
        </p:nvSpPr>
        <p:spPr>
          <a:xfrm>
            <a:off x="1148832" y="2232272"/>
            <a:ext cx="771372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15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</a:rPr>
              <a:t>개수</a:t>
            </a:r>
            <a:r>
              <a:rPr kumimoji="0" lang="ko-KR" altLang="en-US" sz="1500" b="0" i="0" u="none" strike="noStrike" kern="1200" cap="none" spc="0" normalizeH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</a:rPr>
              <a:t> </a:t>
            </a:r>
            <a:r>
              <a:rPr kumimoji="0" lang="en-US" altLang="ko-KR" sz="1500" b="0" i="0" u="none" strike="noStrike" kern="1200" cap="none" spc="0" normalizeH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</a:rPr>
              <a:t>: 271 </a:t>
            </a:r>
          </a:p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ko-KR" altLang="en-US" sz="1500" baseline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전처리 방법</a:t>
            </a:r>
            <a:r>
              <a:rPr lang="en-US" altLang="ko-KR" sz="1500" baseline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: </a:t>
            </a:r>
            <a:r>
              <a:rPr lang="ko-KR" altLang="en-US" sz="1500" baseline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강사님 코드로 </a:t>
            </a:r>
            <a:r>
              <a:rPr lang="en-US" altLang="ko-KR" sz="1500" baseline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Section2</a:t>
            </a:r>
            <a:r>
              <a:rPr lang="ko-KR" altLang="en-US" sz="1500" baseline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와 </a:t>
            </a:r>
            <a:r>
              <a:rPr lang="en-US" altLang="ko-KR" sz="1500" baseline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Section3</a:t>
            </a:r>
            <a:r>
              <a:rPr lang="ko-KR" altLang="en-US" sz="1500" baseline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만 추출 </a:t>
            </a:r>
            <a:endParaRPr kumimoji="0" lang="en-US" altLang="ko-KR" sz="1500" b="0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sp>
        <p:nvSpPr>
          <p:cNvPr id="40" name="갈매기형 수장 14">
            <a:extLst>
              <a:ext uri="{FF2B5EF4-FFF2-40B4-BE49-F238E27FC236}">
                <a16:creationId xmlns:a16="http://schemas.microsoft.com/office/drawing/2014/main" id="{DD99EDD9-FB4B-422C-8DFA-F636B05AA725}"/>
              </a:ext>
            </a:extLst>
          </p:cNvPr>
          <p:cNvSpPr/>
          <p:nvPr/>
        </p:nvSpPr>
        <p:spPr>
          <a:xfrm>
            <a:off x="1156102" y="2007050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" name="갈매기형 수장 15">
            <a:extLst>
              <a:ext uri="{FF2B5EF4-FFF2-40B4-BE49-F238E27FC236}">
                <a16:creationId xmlns:a16="http://schemas.microsoft.com/office/drawing/2014/main" id="{317C2704-563B-4252-B046-A84FC6D83940}"/>
              </a:ext>
            </a:extLst>
          </p:cNvPr>
          <p:cNvSpPr/>
          <p:nvPr/>
        </p:nvSpPr>
        <p:spPr>
          <a:xfrm>
            <a:off x="1008451" y="2007050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E207EF-E35D-4CE3-8836-BD69E70607F0}"/>
              </a:ext>
            </a:extLst>
          </p:cNvPr>
          <p:cNvSpPr txBox="1"/>
          <p:nvPr/>
        </p:nvSpPr>
        <p:spPr>
          <a:xfrm>
            <a:off x="895897" y="984801"/>
            <a:ext cx="39317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30" panose="02030504000101010101" pitchFamily="18" charset="-127"/>
                <a:ea typeface="-윤고딕330" panose="02030504000101010101" pitchFamily="18" charset="-127"/>
                <a:cs typeface="+mn-cs"/>
              </a:rPr>
              <a:t>3. </a:t>
            </a:r>
            <a:r>
              <a:rPr lang="ko-KR" altLang="en-US" sz="220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금융통화위원회 의사록</a:t>
            </a:r>
            <a:endParaRPr kumimoji="0" lang="en-US" altLang="ko-KR" sz="2200" b="0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30" panose="02030504000101010101" pitchFamily="18" charset="-127"/>
              <a:ea typeface="-윤고딕330" panose="02030504000101010101" pitchFamily="18" charset="-127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9BBCFB1-475A-40AE-B395-CD2B193CAE14}"/>
              </a:ext>
            </a:extLst>
          </p:cNvPr>
          <p:cNvSpPr txBox="1"/>
          <p:nvPr/>
        </p:nvSpPr>
        <p:spPr>
          <a:xfrm>
            <a:off x="1356885" y="3241505"/>
            <a:ext cx="4667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전처리 시 어려웠던 점</a:t>
            </a:r>
            <a:endParaRPr kumimoji="0" lang="en-US" altLang="ko-KR" sz="1600" b="0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30" panose="02030504000101010101" pitchFamily="18" charset="-127"/>
              <a:ea typeface="-윤고딕330" panose="02030504000101010101" pitchFamily="18" charset="-127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0ACB110-D1A9-4E48-8183-2A520448AF50}"/>
              </a:ext>
            </a:extLst>
          </p:cNvPr>
          <p:cNvSpPr txBox="1"/>
          <p:nvPr/>
        </p:nvSpPr>
        <p:spPr>
          <a:xfrm>
            <a:off x="1156102" y="3729457"/>
            <a:ext cx="77137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</a:rPr>
              <a:t>2006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</a:rPr>
              <a:t>년 이전 </a:t>
            </a:r>
            <a:r>
              <a:rPr lang="ko-KR" altLang="en-US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의사록은 </a:t>
            </a:r>
            <a:r>
              <a:rPr lang="en-US" altLang="ko-KR" sz="1600" dirty="0" err="1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hwp</a:t>
            </a:r>
            <a:r>
              <a:rPr lang="ko-KR" altLang="en-US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만 존재</a:t>
            </a:r>
            <a:r>
              <a:rPr lang="en-US" altLang="ko-KR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,</a:t>
            </a:r>
            <a:r>
              <a:rPr lang="ko-KR" altLang="en-US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 새로운 </a:t>
            </a:r>
            <a:r>
              <a:rPr lang="en-US" altLang="ko-KR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text </a:t>
            </a:r>
            <a:r>
              <a:rPr lang="ko-KR" altLang="en-US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추출 방법이 필요 </a:t>
            </a:r>
            <a:endParaRPr kumimoji="0" lang="en-US" altLang="ko-KR" sz="1600" b="0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sp>
        <p:nvSpPr>
          <p:cNvPr id="47" name="갈매기형 수장 14">
            <a:extLst>
              <a:ext uri="{FF2B5EF4-FFF2-40B4-BE49-F238E27FC236}">
                <a16:creationId xmlns:a16="http://schemas.microsoft.com/office/drawing/2014/main" id="{2CDEA43C-A7F8-4B7E-930D-57E52AE3EA57}"/>
              </a:ext>
            </a:extLst>
          </p:cNvPr>
          <p:cNvSpPr/>
          <p:nvPr/>
        </p:nvSpPr>
        <p:spPr>
          <a:xfrm>
            <a:off x="1156102" y="3340742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8" name="갈매기형 수장 15">
            <a:extLst>
              <a:ext uri="{FF2B5EF4-FFF2-40B4-BE49-F238E27FC236}">
                <a16:creationId xmlns:a16="http://schemas.microsoft.com/office/drawing/2014/main" id="{9BFAD736-80BC-43C2-896B-252B5A1CC1DE}"/>
              </a:ext>
            </a:extLst>
          </p:cNvPr>
          <p:cNvSpPr/>
          <p:nvPr/>
        </p:nvSpPr>
        <p:spPr>
          <a:xfrm>
            <a:off x="1008451" y="3340742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FEBCC0-8ED5-4205-8744-C0DA66C07F76}"/>
              </a:ext>
            </a:extLst>
          </p:cNvPr>
          <p:cNvSpPr txBox="1"/>
          <p:nvPr/>
        </p:nvSpPr>
        <p:spPr>
          <a:xfrm>
            <a:off x="1437619" y="4207730"/>
            <a:ext cx="77137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600" dirty="0">
                <a:ln>
                  <a:solidFill>
                    <a:prstClr val="black">
                      <a:alpha val="30000"/>
                    </a:prstClr>
                  </a:solidFill>
                </a:ln>
                <a:latin typeface="-윤고딕320" panose="02030504000101010101" pitchFamily="18" charset="-127"/>
                <a:ea typeface="-윤고딕320" panose="02030504000101010101" pitchFamily="18" charset="-127"/>
              </a:rPr>
              <a:t>(solution) </a:t>
            </a:r>
            <a:r>
              <a:rPr lang="ko-KR" altLang="en-US" sz="1600" dirty="0">
                <a:ln>
                  <a:solidFill>
                    <a:prstClr val="black">
                      <a:alpha val="30000"/>
                    </a:prstClr>
                  </a:solidFill>
                </a:ln>
                <a:latin typeface="-윤고딕320" panose="02030504000101010101" pitchFamily="18" charset="-127"/>
                <a:ea typeface="-윤고딕320" panose="02030504000101010101" pitchFamily="18" charset="-127"/>
              </a:rPr>
              <a:t>한글파일을 </a:t>
            </a:r>
            <a:r>
              <a:rPr lang="en-US" altLang="ko-KR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FF0000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python </a:t>
            </a:r>
            <a:r>
              <a:rPr lang="ko-KR" altLang="en-US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FF0000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매크로를 활용 </a:t>
            </a:r>
            <a:r>
              <a:rPr lang="en-US" altLang="ko-KR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FF0000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pdf</a:t>
            </a:r>
            <a:r>
              <a:rPr lang="ko-KR" altLang="en-US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FF0000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로 변환</a:t>
            </a:r>
            <a:r>
              <a:rPr lang="en-US" altLang="ko-KR" sz="1600" dirty="0">
                <a:ln>
                  <a:solidFill>
                    <a:prstClr val="black">
                      <a:alpha val="30000"/>
                    </a:prstClr>
                  </a:solidFill>
                </a:ln>
                <a:latin typeface="-윤고딕320" panose="02030504000101010101" pitchFamily="18" charset="-127"/>
                <a:ea typeface="-윤고딕320" panose="02030504000101010101" pitchFamily="18" charset="-127"/>
              </a:rPr>
              <a:t>, </a:t>
            </a:r>
            <a:r>
              <a:rPr lang="ko-KR" altLang="en-US" sz="1600" dirty="0">
                <a:ln>
                  <a:solidFill>
                    <a:prstClr val="black">
                      <a:alpha val="30000"/>
                    </a:prstClr>
                  </a:solidFill>
                </a:ln>
                <a:latin typeface="-윤고딕320" panose="02030504000101010101" pitchFamily="18" charset="-127"/>
                <a:ea typeface="-윤고딕320" panose="02030504000101010101" pitchFamily="18" charset="-127"/>
              </a:rPr>
              <a:t>일관된 방법으로 작업</a:t>
            </a:r>
            <a:endParaRPr lang="en-US" altLang="ko-KR" sz="1600" dirty="0">
              <a:ln>
                <a:solidFill>
                  <a:prstClr val="black">
                    <a:alpha val="30000"/>
                  </a:prstClr>
                </a:solidFill>
              </a:ln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483FD8-DFB0-47D7-8BEB-4F456C0B1A18}"/>
              </a:ext>
            </a:extLst>
          </p:cNvPr>
          <p:cNvSpPr txBox="1"/>
          <p:nvPr/>
        </p:nvSpPr>
        <p:spPr>
          <a:xfrm>
            <a:off x="1156102" y="4746387"/>
            <a:ext cx="77137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</a:rPr>
              <a:t>2015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</a:rPr>
              <a:t>년 이후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</a:rPr>
              <a:t>,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</a:rPr>
              <a:t>파일 순서가 일정하지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</a:rPr>
              <a:t>않</a:t>
            </a:r>
            <a:r>
              <a:rPr lang="ko-KR" altLang="en-US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은 </a:t>
            </a:r>
            <a:r>
              <a:rPr lang="en-US" altLang="ko-KR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html</a:t>
            </a:r>
            <a:r>
              <a:rPr lang="ko-KR" altLang="en-US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등장  </a:t>
            </a:r>
            <a:endParaRPr kumimoji="0" lang="en-US" altLang="ko-KR" sz="1600" b="0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F8DF9C4-1436-4693-A0C6-65C8A28CDEA2}"/>
              </a:ext>
            </a:extLst>
          </p:cNvPr>
          <p:cNvSpPr txBox="1"/>
          <p:nvPr/>
        </p:nvSpPr>
        <p:spPr>
          <a:xfrm>
            <a:off x="1437619" y="5224660"/>
            <a:ext cx="77137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600" dirty="0">
                <a:ln>
                  <a:solidFill>
                    <a:prstClr val="black">
                      <a:alpha val="30000"/>
                    </a:prstClr>
                  </a:solidFill>
                </a:ln>
                <a:latin typeface="-윤고딕320" panose="02030504000101010101" pitchFamily="18" charset="-127"/>
                <a:ea typeface="-윤고딕320" panose="02030504000101010101" pitchFamily="18" charset="-127"/>
              </a:rPr>
              <a:t>(solution) </a:t>
            </a:r>
            <a:r>
              <a:rPr lang="ko-KR" altLang="en-US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FF0000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조건문을 추가</a:t>
            </a:r>
            <a:r>
              <a:rPr lang="ko-KR" altLang="en-US" sz="1600" dirty="0">
                <a:ln>
                  <a:solidFill>
                    <a:prstClr val="black">
                      <a:alpha val="30000"/>
                    </a:prstClr>
                  </a:solidFill>
                </a:ln>
                <a:latin typeface="-윤고딕320" panose="02030504000101010101" pitchFamily="18" charset="-127"/>
                <a:ea typeface="-윤고딕320" panose="02030504000101010101" pitchFamily="18" charset="-127"/>
              </a:rPr>
              <a:t>하여 </a:t>
            </a:r>
            <a:r>
              <a:rPr lang="en-US" altLang="ko-KR" sz="1600" dirty="0">
                <a:ln>
                  <a:solidFill>
                    <a:prstClr val="black">
                      <a:alpha val="30000"/>
                    </a:prstClr>
                  </a:solidFill>
                </a:ln>
                <a:latin typeface="-윤고딕320" panose="02030504000101010101" pitchFamily="18" charset="-127"/>
                <a:ea typeface="-윤고딕320" panose="02030504000101010101" pitchFamily="18" charset="-127"/>
              </a:rPr>
              <a:t>pdf</a:t>
            </a:r>
            <a:r>
              <a:rPr lang="ko-KR" altLang="en-US" sz="1600" dirty="0">
                <a:ln>
                  <a:solidFill>
                    <a:prstClr val="black">
                      <a:alpha val="30000"/>
                    </a:prstClr>
                  </a:solidFill>
                </a:ln>
                <a:latin typeface="-윤고딕320" panose="02030504000101010101" pitchFamily="18" charset="-127"/>
                <a:ea typeface="-윤고딕320" panose="02030504000101010101" pitchFamily="18" charset="-127"/>
              </a:rPr>
              <a:t>만 추출 </a:t>
            </a:r>
            <a:endParaRPr lang="en-US" altLang="ko-KR" sz="1600" dirty="0">
              <a:ln>
                <a:solidFill>
                  <a:prstClr val="black">
                    <a:alpha val="30000"/>
                  </a:prstClr>
                </a:solidFill>
              </a:ln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4AF84AB-84C1-4CF2-9B5D-DB1250FDA30E}"/>
              </a:ext>
            </a:extLst>
          </p:cNvPr>
          <p:cNvSpPr txBox="1"/>
          <p:nvPr/>
        </p:nvSpPr>
        <p:spPr>
          <a:xfrm>
            <a:off x="1148832" y="5718841"/>
            <a:ext cx="77137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ko-KR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Parsing </a:t>
            </a:r>
            <a:r>
              <a:rPr lang="ko-KR" altLang="en-US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당시</a:t>
            </a:r>
            <a:r>
              <a:rPr lang="en-US" altLang="ko-KR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 </a:t>
            </a:r>
            <a:r>
              <a:rPr lang="ko-KR" altLang="en-US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제거했던 공백으로 인해 </a:t>
            </a:r>
            <a:r>
              <a:rPr lang="en-US" altLang="ko-KR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section</a:t>
            </a:r>
            <a:r>
              <a:rPr lang="ko-KR" altLang="en-US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추출 방해 </a:t>
            </a:r>
            <a:endParaRPr kumimoji="0" lang="en-US" altLang="ko-KR" sz="1600" b="0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BC3C159-E4D1-469D-A3C3-BA0B88E621FD}"/>
              </a:ext>
            </a:extLst>
          </p:cNvPr>
          <p:cNvSpPr txBox="1"/>
          <p:nvPr/>
        </p:nvSpPr>
        <p:spPr>
          <a:xfrm>
            <a:off x="1430349" y="6197114"/>
            <a:ext cx="77137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600" dirty="0">
                <a:ln>
                  <a:solidFill>
                    <a:prstClr val="black">
                      <a:alpha val="30000"/>
                    </a:prstClr>
                  </a:solidFill>
                </a:ln>
                <a:latin typeface="-윤고딕320" panose="02030504000101010101" pitchFamily="18" charset="-127"/>
                <a:ea typeface="-윤고딕320" panose="02030504000101010101" pitchFamily="18" charset="-127"/>
              </a:rPr>
              <a:t>(solution) </a:t>
            </a:r>
            <a:r>
              <a:rPr lang="ko-KR" altLang="en-US" sz="1600" dirty="0" err="1">
                <a:ln>
                  <a:solidFill>
                    <a:prstClr val="black">
                      <a:alpha val="30000"/>
                    </a:prstClr>
                  </a:solidFill>
                </a:ln>
                <a:latin typeface="-윤고딕320" panose="02030504000101010101" pitchFamily="18" charset="-127"/>
                <a:ea typeface="-윤고딕320" panose="02030504000101010101" pitchFamily="18" charset="-127"/>
              </a:rPr>
              <a:t>전처리</a:t>
            </a:r>
            <a:r>
              <a:rPr lang="ko-KR" altLang="en-US" sz="1600" dirty="0">
                <a:ln>
                  <a:solidFill>
                    <a:prstClr val="black">
                      <a:alpha val="30000"/>
                    </a:prstClr>
                  </a:solidFill>
                </a:ln>
                <a:latin typeface="-윤고딕320" panose="02030504000101010101" pitchFamily="18" charset="-127"/>
                <a:ea typeface="-윤고딕320" panose="02030504000101010101" pitchFamily="18" charset="-127"/>
              </a:rPr>
              <a:t> 없이 </a:t>
            </a:r>
            <a:r>
              <a:rPr lang="ko-KR" altLang="en-US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FF0000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원본 그대로 </a:t>
            </a:r>
            <a:r>
              <a:rPr lang="en-US" altLang="ko-KR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FF0000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section</a:t>
            </a:r>
            <a:r>
              <a:rPr lang="ko-KR" altLang="en-US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FF0000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추출 진행  </a:t>
            </a:r>
            <a:endParaRPr lang="en-US" altLang="ko-KR" sz="160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FF0000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00C9035-BC95-4A61-A2C7-EE0C7A0373B1}"/>
              </a:ext>
            </a:extLst>
          </p:cNvPr>
          <p:cNvSpPr txBox="1"/>
          <p:nvPr/>
        </p:nvSpPr>
        <p:spPr>
          <a:xfrm>
            <a:off x="1043608" y="1395006"/>
            <a:ext cx="77137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</a:rPr>
              <a:t>크롤링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</a:rPr>
              <a:t> 방법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</a:rPr>
              <a:t>: </a:t>
            </a:r>
            <a:r>
              <a:rPr kumimoji="0" lang="en-US" altLang="ko-KR" sz="1600" b="0" i="0" u="none" strike="noStrike" kern="1200" cap="none" spc="0" normalizeH="0" baseline="0" noProof="0" dirty="0" err="1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</a:rPr>
              <a:t>BeautifulSoup</a:t>
            </a:r>
            <a:endParaRPr lang="en-US" altLang="ko-KR" sz="160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6374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683568" y="-371068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/>
        </p:nvCxnSpPr>
        <p:spPr>
          <a:xfrm flipH="1">
            <a:off x="692540" y="548680"/>
            <a:ext cx="9295796" cy="0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64352" y="143777"/>
            <a:ext cx="1935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Data preprocessing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45712" y="151887"/>
            <a:ext cx="1666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Lexicon Dictionary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-9283" y="875067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각 삼각형 9"/>
          <p:cNvSpPr/>
          <p:nvPr/>
        </p:nvSpPr>
        <p:spPr>
          <a:xfrm rot="5400000">
            <a:off x="691922" y="1205139"/>
            <a:ext cx="81142" cy="1080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107504" y="1340768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504" y="1819563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549" y="882386"/>
            <a:ext cx="541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56571" y="148154"/>
            <a:ext cx="2246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Evaluation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9968" y="150020"/>
            <a:ext cx="1666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Conclusion</a:t>
            </a:r>
          </a:p>
        </p:txBody>
      </p:sp>
      <p:sp>
        <p:nvSpPr>
          <p:cNvPr id="40" name="갈매기형 수장 14">
            <a:extLst>
              <a:ext uri="{FF2B5EF4-FFF2-40B4-BE49-F238E27FC236}">
                <a16:creationId xmlns:a16="http://schemas.microsoft.com/office/drawing/2014/main" id="{DD99EDD9-FB4B-422C-8DFA-F636B05AA725}"/>
              </a:ext>
            </a:extLst>
          </p:cNvPr>
          <p:cNvSpPr/>
          <p:nvPr/>
        </p:nvSpPr>
        <p:spPr>
          <a:xfrm>
            <a:off x="1202060" y="1546389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" name="갈매기형 수장 15">
            <a:extLst>
              <a:ext uri="{FF2B5EF4-FFF2-40B4-BE49-F238E27FC236}">
                <a16:creationId xmlns:a16="http://schemas.microsoft.com/office/drawing/2014/main" id="{317C2704-563B-4252-B046-A84FC6D83940}"/>
              </a:ext>
            </a:extLst>
          </p:cNvPr>
          <p:cNvSpPr/>
          <p:nvPr/>
        </p:nvSpPr>
        <p:spPr>
          <a:xfrm>
            <a:off x="1054409" y="1546389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E207EF-E35D-4CE3-8836-BD69E70607F0}"/>
              </a:ext>
            </a:extLst>
          </p:cNvPr>
          <p:cNvSpPr txBox="1"/>
          <p:nvPr/>
        </p:nvSpPr>
        <p:spPr>
          <a:xfrm>
            <a:off x="809238" y="875067"/>
            <a:ext cx="39317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30" panose="02030504000101010101" pitchFamily="18" charset="-127"/>
                <a:ea typeface="-윤고딕330" panose="02030504000101010101" pitchFamily="18" charset="-127"/>
                <a:cs typeface="+mn-cs"/>
              </a:rPr>
              <a:t>3. </a:t>
            </a:r>
            <a:r>
              <a:rPr lang="ko-KR" altLang="en-US" sz="220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금융통화위원회 의사록</a:t>
            </a:r>
            <a:endParaRPr kumimoji="0" lang="en-US" altLang="ko-KR" sz="2200" b="0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30" panose="02030504000101010101" pitchFamily="18" charset="-127"/>
              <a:ea typeface="-윤고딕330" panose="02030504000101010101" pitchFamily="18" charset="-127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9F7C2B2-4B69-4E74-8796-E2A0DE4A4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630" y="1416921"/>
            <a:ext cx="7343214" cy="530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060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347864" y="2996952"/>
            <a:ext cx="5400600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-윤고딕360" panose="02030504000101010101" pitchFamily="18" charset="-127"/>
                <a:ea typeface="-윤고딕360" panose="02030504000101010101" pitchFamily="18" charset="-127"/>
              </a:rPr>
              <a:t>극성 사전 및 평가</a:t>
            </a:r>
            <a:endParaRPr lang="en-US" altLang="ko-KR" sz="28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chemeClr val="bg1"/>
              </a:solidFill>
              <a:latin typeface="-윤고딕360" panose="02030504000101010101" pitchFamily="18" charset="-127"/>
              <a:ea typeface="-윤고딕360" panose="02030504000101010101" pitchFamily="18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627784" y="2924944"/>
            <a:ext cx="11521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2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-윤고딕360" panose="02030504000101010101" pitchFamily="18" charset="-127"/>
                <a:ea typeface="-윤고딕360" panose="02030504000101010101" pitchFamily="18" charset="-127"/>
              </a:rPr>
              <a:t>02</a:t>
            </a:r>
            <a:endParaRPr lang="ko-KR" altLang="en-US" sz="32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chemeClr val="bg1"/>
              </a:solidFill>
              <a:latin typeface="-윤고딕360" panose="02030504000101010101" pitchFamily="18" charset="-127"/>
              <a:ea typeface="-윤고딕360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3798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683568" y="-371068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/>
        </p:nvCxnSpPr>
        <p:spPr>
          <a:xfrm flipH="1">
            <a:off x="692540" y="548680"/>
            <a:ext cx="9295796" cy="0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64352" y="143777"/>
            <a:ext cx="1935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Data preprocessing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45712" y="151887"/>
            <a:ext cx="1666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Lexicon Dictionary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-9283" y="1335821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각 삼각형 9"/>
          <p:cNvSpPr/>
          <p:nvPr/>
        </p:nvSpPr>
        <p:spPr>
          <a:xfrm rot="5400000">
            <a:off x="691922" y="1665893"/>
            <a:ext cx="81142" cy="1080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107504" y="1340768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504" y="1819563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549" y="882386"/>
            <a:ext cx="541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56571" y="148154"/>
            <a:ext cx="2246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Evaluation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9968" y="150020"/>
            <a:ext cx="1666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Conclusion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B7F2870-AFC5-4668-8400-EB2FE8DDDD6B}"/>
              </a:ext>
            </a:extLst>
          </p:cNvPr>
          <p:cNvSpPr txBox="1"/>
          <p:nvPr/>
        </p:nvSpPr>
        <p:spPr>
          <a:xfrm>
            <a:off x="1402843" y="1591187"/>
            <a:ext cx="4667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30" panose="02030504000101010101" pitchFamily="18" charset="-127"/>
                <a:ea typeface="-윤고딕330" panose="02030504000101010101" pitchFamily="18" charset="-127"/>
                <a:cs typeface="+mn-cs"/>
              </a:rPr>
              <a:t>순서</a:t>
            </a:r>
            <a:endParaRPr kumimoji="0" lang="en-US" altLang="ko-KR" sz="1600" b="0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30" panose="02030504000101010101" pitchFamily="18" charset="-127"/>
              <a:ea typeface="-윤고딕330" panose="02030504000101010101" pitchFamily="18" charset="-127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0626FA5-492B-4048-A6B3-363890FD5840}"/>
              </a:ext>
            </a:extLst>
          </p:cNvPr>
          <p:cNvSpPr txBox="1"/>
          <p:nvPr/>
        </p:nvSpPr>
        <p:spPr>
          <a:xfrm>
            <a:off x="1194790" y="2060848"/>
            <a:ext cx="771372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ko-KR" sz="1500" noProof="0" dirty="0" err="1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n_gram</a:t>
            </a:r>
            <a:r>
              <a:rPr lang="ko-KR" altLang="en-US" sz="150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을 만든 기사와 </a:t>
            </a:r>
            <a:r>
              <a:rPr lang="ko-KR" altLang="en-US" sz="1500" noProof="0" dirty="0" err="1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채권분석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보고서에 콜금리 라벨을 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merge</a:t>
            </a:r>
          </a:p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ko-KR" altLang="en-US" sz="150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라벨에 맞춰 </a:t>
            </a:r>
            <a:r>
              <a:rPr lang="en-US" altLang="ko-KR" sz="1500" noProof="0" dirty="0" err="1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n_gram</a:t>
            </a:r>
            <a:r>
              <a:rPr lang="en-US" altLang="ko-KR" sz="150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 </a:t>
            </a:r>
            <a:r>
              <a:rPr lang="ko-KR" altLang="en-US" sz="150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등장 빈도수를 계산</a:t>
            </a:r>
            <a:endParaRPr lang="en-US" altLang="ko-KR" sz="150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ko-KR" sz="1500" b="0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sp>
        <p:nvSpPr>
          <p:cNvPr id="40" name="갈매기형 수장 14">
            <a:extLst>
              <a:ext uri="{FF2B5EF4-FFF2-40B4-BE49-F238E27FC236}">
                <a16:creationId xmlns:a16="http://schemas.microsoft.com/office/drawing/2014/main" id="{DD99EDD9-FB4B-422C-8DFA-F636B05AA725}"/>
              </a:ext>
            </a:extLst>
          </p:cNvPr>
          <p:cNvSpPr/>
          <p:nvPr/>
        </p:nvSpPr>
        <p:spPr>
          <a:xfrm>
            <a:off x="1202060" y="1690424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" name="갈매기형 수장 15">
            <a:extLst>
              <a:ext uri="{FF2B5EF4-FFF2-40B4-BE49-F238E27FC236}">
                <a16:creationId xmlns:a16="http://schemas.microsoft.com/office/drawing/2014/main" id="{317C2704-563B-4252-B046-A84FC6D83940}"/>
              </a:ext>
            </a:extLst>
          </p:cNvPr>
          <p:cNvSpPr/>
          <p:nvPr/>
        </p:nvSpPr>
        <p:spPr>
          <a:xfrm>
            <a:off x="1054409" y="1690424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E207EF-E35D-4CE3-8836-BD69E70607F0}"/>
              </a:ext>
            </a:extLst>
          </p:cNvPr>
          <p:cNvSpPr txBox="1"/>
          <p:nvPr/>
        </p:nvSpPr>
        <p:spPr>
          <a:xfrm>
            <a:off x="809238" y="875067"/>
            <a:ext cx="39317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30" panose="02030504000101010101" pitchFamily="18" charset="-127"/>
                <a:ea typeface="-윤고딕330" panose="02030504000101010101" pitchFamily="18" charset="-127"/>
                <a:cs typeface="+mn-cs"/>
              </a:rPr>
              <a:t>1. </a:t>
            </a:r>
            <a:r>
              <a:rPr kumimoji="0" lang="ko-KR" altLang="en-US" sz="22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30" panose="02030504000101010101" pitchFamily="18" charset="-127"/>
                <a:ea typeface="-윤고딕330" panose="02030504000101010101" pitchFamily="18" charset="-127"/>
                <a:cs typeface="+mn-cs"/>
              </a:rPr>
              <a:t>극성 사전 구축</a:t>
            </a:r>
            <a:endParaRPr kumimoji="0" lang="en-US" altLang="ko-KR" sz="2200" b="0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30" panose="02030504000101010101" pitchFamily="18" charset="-127"/>
              <a:ea typeface="-윤고딕330" panose="02030504000101010101" pitchFamily="18" charset="-127"/>
              <a:cs typeface="+mn-cs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441" y="4051197"/>
            <a:ext cx="6108062" cy="582601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2632" y="3185093"/>
            <a:ext cx="6900150" cy="67595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0626FA5-492B-4048-A6B3-363890FD5840}"/>
              </a:ext>
            </a:extLst>
          </p:cNvPr>
          <p:cNvSpPr txBox="1"/>
          <p:nvPr/>
        </p:nvSpPr>
        <p:spPr>
          <a:xfrm>
            <a:off x="1202060" y="4687976"/>
            <a:ext cx="771372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ko-KR" sz="1500" dirty="0" err="1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n_gram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의 총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 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빈도수가 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15 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이하인 것 제거</a:t>
            </a:r>
            <a:endParaRPr lang="en-US" altLang="ko-KR" sz="150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극성 점수가 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1.3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이상이면 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Hawkish, 1.3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과 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1/1.3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사이면 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Neutral, 1/1.3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이하면 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Dovish</a:t>
            </a:r>
          </a:p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부정 사전과 긍정 사전 구축</a:t>
            </a:r>
            <a:endParaRPr kumimoji="0" lang="en-US" altLang="ko-KR" sz="1500" b="0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76077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683568" y="-371068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/>
        </p:nvCxnSpPr>
        <p:spPr>
          <a:xfrm flipH="1">
            <a:off x="692540" y="548680"/>
            <a:ext cx="9295796" cy="0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64352" y="143777"/>
            <a:ext cx="1935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Data preprocessing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45712" y="151887"/>
            <a:ext cx="1666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Lexicon Dictionary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-9283" y="1335821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각 삼각형 9"/>
          <p:cNvSpPr/>
          <p:nvPr/>
        </p:nvSpPr>
        <p:spPr>
          <a:xfrm rot="5400000">
            <a:off x="691922" y="1665893"/>
            <a:ext cx="81142" cy="1080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107504" y="1340768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504" y="1819563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549" y="882386"/>
            <a:ext cx="541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56571" y="148154"/>
            <a:ext cx="2246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Evaluation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9968" y="150020"/>
            <a:ext cx="1666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Conclusion</a:t>
            </a:r>
          </a:p>
        </p:txBody>
      </p:sp>
      <p:sp>
        <p:nvSpPr>
          <p:cNvPr id="40" name="갈매기형 수장 14">
            <a:extLst>
              <a:ext uri="{FF2B5EF4-FFF2-40B4-BE49-F238E27FC236}">
                <a16:creationId xmlns:a16="http://schemas.microsoft.com/office/drawing/2014/main" id="{DD99EDD9-FB4B-422C-8DFA-F636B05AA725}"/>
              </a:ext>
            </a:extLst>
          </p:cNvPr>
          <p:cNvSpPr/>
          <p:nvPr/>
        </p:nvSpPr>
        <p:spPr>
          <a:xfrm>
            <a:off x="1202060" y="1690424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" name="갈매기형 수장 15">
            <a:extLst>
              <a:ext uri="{FF2B5EF4-FFF2-40B4-BE49-F238E27FC236}">
                <a16:creationId xmlns:a16="http://schemas.microsoft.com/office/drawing/2014/main" id="{317C2704-563B-4252-B046-A84FC6D83940}"/>
              </a:ext>
            </a:extLst>
          </p:cNvPr>
          <p:cNvSpPr/>
          <p:nvPr/>
        </p:nvSpPr>
        <p:spPr>
          <a:xfrm>
            <a:off x="1054409" y="1690424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E207EF-E35D-4CE3-8836-BD69E70607F0}"/>
              </a:ext>
            </a:extLst>
          </p:cNvPr>
          <p:cNvSpPr txBox="1"/>
          <p:nvPr/>
        </p:nvSpPr>
        <p:spPr>
          <a:xfrm>
            <a:off x="809238" y="875067"/>
            <a:ext cx="39317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30" panose="02030504000101010101" pitchFamily="18" charset="-127"/>
                <a:ea typeface="-윤고딕330" panose="02030504000101010101" pitchFamily="18" charset="-127"/>
                <a:cs typeface="+mn-cs"/>
              </a:rPr>
              <a:t>1. </a:t>
            </a:r>
            <a:r>
              <a:rPr kumimoji="0" lang="ko-KR" altLang="en-US" sz="22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30" panose="02030504000101010101" pitchFamily="18" charset="-127"/>
                <a:ea typeface="-윤고딕330" panose="02030504000101010101" pitchFamily="18" charset="-127"/>
                <a:cs typeface="+mn-cs"/>
              </a:rPr>
              <a:t>극성 사전 구축</a:t>
            </a:r>
            <a:endParaRPr kumimoji="0" lang="en-US" altLang="ko-KR" sz="2200" b="0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30" panose="02030504000101010101" pitchFamily="18" charset="-127"/>
              <a:ea typeface="-윤고딕330" panose="02030504000101010101" pitchFamily="18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8D2C17A-D595-41ED-B223-0AAF98AC65B0}"/>
              </a:ext>
            </a:extLst>
          </p:cNvPr>
          <p:cNvSpPr txBox="1"/>
          <p:nvPr/>
        </p:nvSpPr>
        <p:spPr>
          <a:xfrm>
            <a:off x="1462706" y="1412776"/>
            <a:ext cx="7713721" cy="95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500" noProof="0" dirty="0" err="1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n_gram</a:t>
            </a:r>
            <a:r>
              <a:rPr lang="ko-KR" altLang="en-US" sz="150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을 만든 기사와 채권분석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보고서에 콜금리 라벨을 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merge</a:t>
            </a:r>
          </a:p>
          <a:p>
            <a:pPr marR="0" lvl="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ko-KR" sz="1500" b="0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204AF4-1630-4E0E-A890-AB0F0158E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199" y="1891432"/>
            <a:ext cx="6905625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853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683568" y="-371068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/>
        </p:nvCxnSpPr>
        <p:spPr>
          <a:xfrm flipH="1">
            <a:off x="692540" y="548680"/>
            <a:ext cx="9295796" cy="0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64352" y="143777"/>
            <a:ext cx="1935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Data preprocessing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45712" y="151887"/>
            <a:ext cx="1666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Lexicon Dictionary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-9283" y="1335821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각 삼각형 9"/>
          <p:cNvSpPr/>
          <p:nvPr/>
        </p:nvSpPr>
        <p:spPr>
          <a:xfrm rot="5400000">
            <a:off x="691922" y="1665893"/>
            <a:ext cx="81142" cy="1080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107504" y="1340768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504" y="1819563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549" y="882386"/>
            <a:ext cx="541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56571" y="148154"/>
            <a:ext cx="2246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Evaluation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9968" y="150020"/>
            <a:ext cx="1666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Conclusion</a:t>
            </a:r>
          </a:p>
        </p:txBody>
      </p:sp>
      <p:sp>
        <p:nvSpPr>
          <p:cNvPr id="40" name="갈매기형 수장 14">
            <a:extLst>
              <a:ext uri="{FF2B5EF4-FFF2-40B4-BE49-F238E27FC236}">
                <a16:creationId xmlns:a16="http://schemas.microsoft.com/office/drawing/2014/main" id="{DD99EDD9-FB4B-422C-8DFA-F636B05AA725}"/>
              </a:ext>
            </a:extLst>
          </p:cNvPr>
          <p:cNvSpPr/>
          <p:nvPr/>
        </p:nvSpPr>
        <p:spPr>
          <a:xfrm>
            <a:off x="1202060" y="1690424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" name="갈매기형 수장 15">
            <a:extLst>
              <a:ext uri="{FF2B5EF4-FFF2-40B4-BE49-F238E27FC236}">
                <a16:creationId xmlns:a16="http://schemas.microsoft.com/office/drawing/2014/main" id="{317C2704-563B-4252-B046-A84FC6D83940}"/>
              </a:ext>
            </a:extLst>
          </p:cNvPr>
          <p:cNvSpPr/>
          <p:nvPr/>
        </p:nvSpPr>
        <p:spPr>
          <a:xfrm>
            <a:off x="1054409" y="1690424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E207EF-E35D-4CE3-8836-BD69E70607F0}"/>
              </a:ext>
            </a:extLst>
          </p:cNvPr>
          <p:cNvSpPr txBox="1"/>
          <p:nvPr/>
        </p:nvSpPr>
        <p:spPr>
          <a:xfrm>
            <a:off x="809238" y="875067"/>
            <a:ext cx="39317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30" panose="02030504000101010101" pitchFamily="18" charset="-127"/>
                <a:ea typeface="-윤고딕330" panose="02030504000101010101" pitchFamily="18" charset="-127"/>
                <a:cs typeface="+mn-cs"/>
              </a:rPr>
              <a:t>1. </a:t>
            </a:r>
            <a:r>
              <a:rPr kumimoji="0" lang="ko-KR" altLang="en-US" sz="22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30" panose="02030504000101010101" pitchFamily="18" charset="-127"/>
                <a:ea typeface="-윤고딕330" panose="02030504000101010101" pitchFamily="18" charset="-127"/>
                <a:cs typeface="+mn-cs"/>
              </a:rPr>
              <a:t>극성 사전 구축</a:t>
            </a:r>
            <a:endParaRPr kumimoji="0" lang="en-US" altLang="ko-KR" sz="2200" b="0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30" panose="02030504000101010101" pitchFamily="18" charset="-127"/>
              <a:ea typeface="-윤고딕330" panose="02030504000101010101" pitchFamily="18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8D2C17A-D595-41ED-B223-0AAF98AC65B0}"/>
              </a:ext>
            </a:extLst>
          </p:cNvPr>
          <p:cNvSpPr txBox="1"/>
          <p:nvPr/>
        </p:nvSpPr>
        <p:spPr>
          <a:xfrm>
            <a:off x="1462706" y="1412776"/>
            <a:ext cx="7713721" cy="95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라벨에 맞춰 </a:t>
            </a:r>
            <a:r>
              <a:rPr lang="en-US" altLang="ko-KR" sz="1500" dirty="0" err="1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n_gram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 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등장 빈도수를 계산</a:t>
            </a:r>
            <a:endParaRPr lang="en-US" altLang="ko-KR" sz="150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  <a:p>
            <a:pPr marR="0" lvl="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ko-KR" sz="1500" b="0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40E113-0A62-4CD4-96B7-4445855A9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599" y="1988840"/>
            <a:ext cx="7781925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662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683568" y="-371068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/>
        </p:nvCxnSpPr>
        <p:spPr>
          <a:xfrm flipH="1">
            <a:off x="692540" y="548680"/>
            <a:ext cx="9295796" cy="0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64352" y="143777"/>
            <a:ext cx="1935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Data preprocessing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45712" y="151887"/>
            <a:ext cx="1666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Lexicon Dictionary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-9283" y="1335821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각 삼각형 9"/>
          <p:cNvSpPr/>
          <p:nvPr/>
        </p:nvSpPr>
        <p:spPr>
          <a:xfrm rot="5400000">
            <a:off x="691922" y="1665893"/>
            <a:ext cx="81142" cy="1080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107504" y="1340768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504" y="1819563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549" y="882386"/>
            <a:ext cx="541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56571" y="148154"/>
            <a:ext cx="2246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Evaluation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9968" y="150020"/>
            <a:ext cx="1666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Conclusion</a:t>
            </a:r>
          </a:p>
        </p:txBody>
      </p:sp>
      <p:sp>
        <p:nvSpPr>
          <p:cNvPr id="40" name="갈매기형 수장 14">
            <a:extLst>
              <a:ext uri="{FF2B5EF4-FFF2-40B4-BE49-F238E27FC236}">
                <a16:creationId xmlns:a16="http://schemas.microsoft.com/office/drawing/2014/main" id="{DD99EDD9-FB4B-422C-8DFA-F636B05AA725}"/>
              </a:ext>
            </a:extLst>
          </p:cNvPr>
          <p:cNvSpPr/>
          <p:nvPr/>
        </p:nvSpPr>
        <p:spPr>
          <a:xfrm>
            <a:off x="1202060" y="1690424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" name="갈매기형 수장 15">
            <a:extLst>
              <a:ext uri="{FF2B5EF4-FFF2-40B4-BE49-F238E27FC236}">
                <a16:creationId xmlns:a16="http://schemas.microsoft.com/office/drawing/2014/main" id="{317C2704-563B-4252-B046-A84FC6D83940}"/>
              </a:ext>
            </a:extLst>
          </p:cNvPr>
          <p:cNvSpPr/>
          <p:nvPr/>
        </p:nvSpPr>
        <p:spPr>
          <a:xfrm>
            <a:off x="1054409" y="1690424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E207EF-E35D-4CE3-8836-BD69E70607F0}"/>
              </a:ext>
            </a:extLst>
          </p:cNvPr>
          <p:cNvSpPr txBox="1"/>
          <p:nvPr/>
        </p:nvSpPr>
        <p:spPr>
          <a:xfrm>
            <a:off x="809238" y="875067"/>
            <a:ext cx="39317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30" panose="02030504000101010101" pitchFamily="18" charset="-127"/>
                <a:ea typeface="-윤고딕330" panose="02030504000101010101" pitchFamily="18" charset="-127"/>
                <a:cs typeface="+mn-cs"/>
              </a:rPr>
              <a:t>1. </a:t>
            </a:r>
            <a:r>
              <a:rPr kumimoji="0" lang="ko-KR" altLang="en-US" sz="22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30" panose="02030504000101010101" pitchFamily="18" charset="-127"/>
                <a:ea typeface="-윤고딕330" panose="02030504000101010101" pitchFamily="18" charset="-127"/>
                <a:cs typeface="+mn-cs"/>
              </a:rPr>
              <a:t>극성 사전 구축</a:t>
            </a:r>
            <a:endParaRPr kumimoji="0" lang="en-US" altLang="ko-KR" sz="2200" b="0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30" panose="02030504000101010101" pitchFamily="18" charset="-127"/>
              <a:ea typeface="-윤고딕330" panose="02030504000101010101" pitchFamily="18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8D2C17A-D595-41ED-B223-0AAF98AC65B0}"/>
              </a:ext>
            </a:extLst>
          </p:cNvPr>
          <p:cNvSpPr txBox="1"/>
          <p:nvPr/>
        </p:nvSpPr>
        <p:spPr>
          <a:xfrm>
            <a:off x="1462706" y="1412776"/>
            <a:ext cx="7713721" cy="95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라벨에 맞춰 </a:t>
            </a:r>
            <a:r>
              <a:rPr lang="en-US" altLang="ko-KR" sz="1500" dirty="0" err="1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n_gram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 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등장 빈도수를 계산</a:t>
            </a:r>
            <a:endParaRPr lang="en-US" altLang="ko-KR" sz="150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  <a:p>
            <a:pPr marR="0" lvl="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ko-KR" sz="1500" b="0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A0BED9A-1BC8-4554-8DD0-AD5224025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889" y="2334966"/>
            <a:ext cx="3962442" cy="33640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69A6122-EBC6-49BC-A42D-FDCFB79E0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258" y="2204864"/>
            <a:ext cx="4151715" cy="3859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827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683568" y="-371068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/>
        </p:nvCxnSpPr>
        <p:spPr>
          <a:xfrm flipH="1">
            <a:off x="692540" y="548680"/>
            <a:ext cx="9295796" cy="0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64352" y="143777"/>
            <a:ext cx="1935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Data preprocessing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45712" y="151887"/>
            <a:ext cx="1666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Lexicon Dictionary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-9283" y="1335821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각 삼각형 9"/>
          <p:cNvSpPr/>
          <p:nvPr/>
        </p:nvSpPr>
        <p:spPr>
          <a:xfrm rot="5400000">
            <a:off x="691922" y="1665893"/>
            <a:ext cx="81142" cy="1080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107504" y="1340768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504" y="1819563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549" y="882386"/>
            <a:ext cx="541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56571" y="148154"/>
            <a:ext cx="2246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Evaluation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9968" y="150020"/>
            <a:ext cx="1666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Conclusion</a:t>
            </a:r>
          </a:p>
        </p:txBody>
      </p:sp>
      <p:sp>
        <p:nvSpPr>
          <p:cNvPr id="40" name="갈매기형 수장 14">
            <a:extLst>
              <a:ext uri="{FF2B5EF4-FFF2-40B4-BE49-F238E27FC236}">
                <a16:creationId xmlns:a16="http://schemas.microsoft.com/office/drawing/2014/main" id="{DD99EDD9-FB4B-422C-8DFA-F636B05AA725}"/>
              </a:ext>
            </a:extLst>
          </p:cNvPr>
          <p:cNvSpPr/>
          <p:nvPr/>
        </p:nvSpPr>
        <p:spPr>
          <a:xfrm>
            <a:off x="1202060" y="1690424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" name="갈매기형 수장 15">
            <a:extLst>
              <a:ext uri="{FF2B5EF4-FFF2-40B4-BE49-F238E27FC236}">
                <a16:creationId xmlns:a16="http://schemas.microsoft.com/office/drawing/2014/main" id="{317C2704-563B-4252-B046-A84FC6D83940}"/>
              </a:ext>
            </a:extLst>
          </p:cNvPr>
          <p:cNvSpPr/>
          <p:nvPr/>
        </p:nvSpPr>
        <p:spPr>
          <a:xfrm>
            <a:off x="1054409" y="1690424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E207EF-E35D-4CE3-8836-BD69E70607F0}"/>
              </a:ext>
            </a:extLst>
          </p:cNvPr>
          <p:cNvSpPr txBox="1"/>
          <p:nvPr/>
        </p:nvSpPr>
        <p:spPr>
          <a:xfrm>
            <a:off x="809238" y="875067"/>
            <a:ext cx="39317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30" panose="02030504000101010101" pitchFamily="18" charset="-127"/>
                <a:ea typeface="-윤고딕330" panose="02030504000101010101" pitchFamily="18" charset="-127"/>
                <a:cs typeface="+mn-cs"/>
              </a:rPr>
              <a:t>1. </a:t>
            </a:r>
            <a:r>
              <a:rPr kumimoji="0" lang="ko-KR" altLang="en-US" sz="22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30" panose="02030504000101010101" pitchFamily="18" charset="-127"/>
                <a:ea typeface="-윤고딕330" panose="02030504000101010101" pitchFamily="18" charset="-127"/>
                <a:cs typeface="+mn-cs"/>
              </a:rPr>
              <a:t>극성 사전 구축</a:t>
            </a:r>
            <a:endParaRPr kumimoji="0" lang="en-US" altLang="ko-KR" sz="2200" b="0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30" panose="02030504000101010101" pitchFamily="18" charset="-127"/>
              <a:ea typeface="-윤고딕330" panose="02030504000101010101" pitchFamily="18" charset="-127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9C3E3F6-5D76-49F1-96B8-0EAD14288D6D}"/>
              </a:ext>
            </a:extLst>
          </p:cNvPr>
          <p:cNvSpPr txBox="1"/>
          <p:nvPr/>
        </p:nvSpPr>
        <p:spPr>
          <a:xfrm>
            <a:off x="1460918" y="1412776"/>
            <a:ext cx="7713721" cy="95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극성 </a:t>
            </a:r>
            <a:r>
              <a:rPr lang="en-US" altLang="ko-KR" sz="1500" dirty="0" err="1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n_gram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의 총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 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빈도수가 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15 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이하인 것 제거</a:t>
            </a:r>
            <a:endParaRPr lang="en-US" altLang="ko-KR" sz="150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  <a:p>
            <a:pPr lvl="0">
              <a:lnSpc>
                <a:spcPct val="200000"/>
              </a:lnSpc>
              <a:defRPr/>
            </a:pP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점수가 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1.3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이상이면 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Hawkish, 1.3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과 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1/1.3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사이면 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Neutral, 1/1.3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이하면 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Dovish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90BEB5E-4FB9-4714-BEBB-F0B7F2334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684" y="4005064"/>
            <a:ext cx="6598568" cy="2119540"/>
          </a:xfrm>
          <a:prstGeom prst="rect">
            <a:avLst/>
          </a:prstGeom>
        </p:spPr>
      </p:pic>
      <p:pic>
        <p:nvPicPr>
          <p:cNvPr id="28" name="그림 2">
            <a:extLst>
              <a:ext uri="{FF2B5EF4-FFF2-40B4-BE49-F238E27FC236}">
                <a16:creationId xmlns:a16="http://schemas.microsoft.com/office/drawing/2014/main" id="{56C18338-9467-4F19-86B8-74F45C34B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981" y="3010535"/>
            <a:ext cx="6108062" cy="582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9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683568" y="-371068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/>
        </p:nvCxnSpPr>
        <p:spPr>
          <a:xfrm flipH="1">
            <a:off x="692540" y="548680"/>
            <a:ext cx="9295796" cy="0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64352" y="143777"/>
            <a:ext cx="1935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Data preprocessing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45712" y="151887"/>
            <a:ext cx="1666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Lexicon Dictionary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-9283" y="1335821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각 삼각형 9"/>
          <p:cNvSpPr/>
          <p:nvPr/>
        </p:nvSpPr>
        <p:spPr>
          <a:xfrm rot="5400000">
            <a:off x="691922" y="1665893"/>
            <a:ext cx="81142" cy="1080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107504" y="1340768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504" y="1819563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549" y="882386"/>
            <a:ext cx="541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56571" y="148154"/>
            <a:ext cx="2246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Evaluation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9968" y="150020"/>
            <a:ext cx="1666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Conclusion</a:t>
            </a:r>
          </a:p>
        </p:txBody>
      </p:sp>
      <p:sp>
        <p:nvSpPr>
          <p:cNvPr id="40" name="갈매기형 수장 14">
            <a:extLst>
              <a:ext uri="{FF2B5EF4-FFF2-40B4-BE49-F238E27FC236}">
                <a16:creationId xmlns:a16="http://schemas.microsoft.com/office/drawing/2014/main" id="{DD99EDD9-FB4B-422C-8DFA-F636B05AA725}"/>
              </a:ext>
            </a:extLst>
          </p:cNvPr>
          <p:cNvSpPr/>
          <p:nvPr/>
        </p:nvSpPr>
        <p:spPr>
          <a:xfrm>
            <a:off x="1202060" y="1690424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" name="갈매기형 수장 15">
            <a:extLst>
              <a:ext uri="{FF2B5EF4-FFF2-40B4-BE49-F238E27FC236}">
                <a16:creationId xmlns:a16="http://schemas.microsoft.com/office/drawing/2014/main" id="{317C2704-563B-4252-B046-A84FC6D83940}"/>
              </a:ext>
            </a:extLst>
          </p:cNvPr>
          <p:cNvSpPr/>
          <p:nvPr/>
        </p:nvSpPr>
        <p:spPr>
          <a:xfrm>
            <a:off x="1054409" y="1690424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E207EF-E35D-4CE3-8836-BD69E70607F0}"/>
              </a:ext>
            </a:extLst>
          </p:cNvPr>
          <p:cNvSpPr txBox="1"/>
          <p:nvPr/>
        </p:nvSpPr>
        <p:spPr>
          <a:xfrm>
            <a:off x="809238" y="875067"/>
            <a:ext cx="39317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30" panose="02030504000101010101" pitchFamily="18" charset="-127"/>
                <a:ea typeface="-윤고딕330" panose="02030504000101010101" pitchFamily="18" charset="-127"/>
                <a:cs typeface="+mn-cs"/>
              </a:rPr>
              <a:t>1. </a:t>
            </a:r>
            <a:r>
              <a:rPr kumimoji="0" lang="ko-KR" altLang="en-US" sz="22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30" panose="02030504000101010101" pitchFamily="18" charset="-127"/>
                <a:ea typeface="-윤고딕330" panose="02030504000101010101" pitchFamily="18" charset="-127"/>
                <a:cs typeface="+mn-cs"/>
              </a:rPr>
              <a:t>극성 사전 구축</a:t>
            </a:r>
            <a:endParaRPr kumimoji="0" lang="en-US" altLang="ko-KR" sz="2200" b="0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30" panose="02030504000101010101" pitchFamily="18" charset="-127"/>
              <a:ea typeface="-윤고딕330" panose="02030504000101010101" pitchFamily="18" charset="-127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9C3E3F6-5D76-49F1-96B8-0EAD14288D6D}"/>
              </a:ext>
            </a:extLst>
          </p:cNvPr>
          <p:cNvSpPr txBox="1"/>
          <p:nvPr/>
        </p:nvSpPr>
        <p:spPr>
          <a:xfrm>
            <a:off x="1460918" y="1412776"/>
            <a:ext cx="7713721" cy="95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극성 </a:t>
            </a:r>
            <a:r>
              <a:rPr lang="en-US" altLang="ko-KR" sz="1500" dirty="0" err="1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n_gram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의 총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 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빈도수가 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15 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이하인 것 제거</a:t>
            </a:r>
            <a:endParaRPr lang="en-US" altLang="ko-KR" sz="150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  <a:p>
            <a:pPr lvl="0">
              <a:lnSpc>
                <a:spcPct val="200000"/>
              </a:lnSpc>
              <a:defRPr/>
            </a:pP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점수가 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1.3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이상이면 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Hawkish, 1.3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과 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1/1.3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사이면 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Neutral, 1/1.3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이하면 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Dovish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EB89E5-2F61-41DA-85C2-72A7B845E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599" y="2359628"/>
            <a:ext cx="7353787" cy="4378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119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683568" y="-371068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/>
        </p:nvCxnSpPr>
        <p:spPr>
          <a:xfrm flipH="1">
            <a:off x="692540" y="548680"/>
            <a:ext cx="9295796" cy="0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64352" y="143777"/>
            <a:ext cx="1935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Data preprocessing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45712" y="151887"/>
            <a:ext cx="1666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Lexicon Dictionary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-9283" y="1335821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각 삼각형 9"/>
          <p:cNvSpPr/>
          <p:nvPr/>
        </p:nvSpPr>
        <p:spPr>
          <a:xfrm rot="5400000">
            <a:off x="691922" y="1665893"/>
            <a:ext cx="81142" cy="1080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107504" y="1340768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504" y="1819563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549" y="882386"/>
            <a:ext cx="541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56571" y="148154"/>
            <a:ext cx="2246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Evaluation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9968" y="150020"/>
            <a:ext cx="1666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Conclusion</a:t>
            </a:r>
          </a:p>
        </p:txBody>
      </p:sp>
      <p:sp>
        <p:nvSpPr>
          <p:cNvPr id="40" name="갈매기형 수장 14">
            <a:extLst>
              <a:ext uri="{FF2B5EF4-FFF2-40B4-BE49-F238E27FC236}">
                <a16:creationId xmlns:a16="http://schemas.microsoft.com/office/drawing/2014/main" id="{DD99EDD9-FB4B-422C-8DFA-F636B05AA725}"/>
              </a:ext>
            </a:extLst>
          </p:cNvPr>
          <p:cNvSpPr/>
          <p:nvPr/>
        </p:nvSpPr>
        <p:spPr>
          <a:xfrm>
            <a:off x="1202060" y="1690424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" name="갈매기형 수장 15">
            <a:extLst>
              <a:ext uri="{FF2B5EF4-FFF2-40B4-BE49-F238E27FC236}">
                <a16:creationId xmlns:a16="http://schemas.microsoft.com/office/drawing/2014/main" id="{317C2704-563B-4252-B046-A84FC6D83940}"/>
              </a:ext>
            </a:extLst>
          </p:cNvPr>
          <p:cNvSpPr/>
          <p:nvPr/>
        </p:nvSpPr>
        <p:spPr>
          <a:xfrm>
            <a:off x="1054409" y="1690424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E207EF-E35D-4CE3-8836-BD69E70607F0}"/>
              </a:ext>
            </a:extLst>
          </p:cNvPr>
          <p:cNvSpPr txBox="1"/>
          <p:nvPr/>
        </p:nvSpPr>
        <p:spPr>
          <a:xfrm>
            <a:off x="809238" y="875067"/>
            <a:ext cx="39317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30" panose="02030504000101010101" pitchFamily="18" charset="-127"/>
                <a:ea typeface="-윤고딕330" panose="02030504000101010101" pitchFamily="18" charset="-127"/>
                <a:cs typeface="+mn-cs"/>
              </a:rPr>
              <a:t>1. </a:t>
            </a:r>
            <a:r>
              <a:rPr kumimoji="0" lang="ko-KR" altLang="en-US" sz="22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30" panose="02030504000101010101" pitchFamily="18" charset="-127"/>
                <a:ea typeface="-윤고딕330" panose="02030504000101010101" pitchFamily="18" charset="-127"/>
                <a:cs typeface="+mn-cs"/>
              </a:rPr>
              <a:t>극성 사전 구축</a:t>
            </a:r>
            <a:endParaRPr kumimoji="0" lang="en-US" altLang="ko-KR" sz="2200" b="0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30" panose="02030504000101010101" pitchFamily="18" charset="-127"/>
              <a:ea typeface="-윤고딕330" panose="02030504000101010101" pitchFamily="18" charset="-127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BE49BAD-FDA4-41EB-A12B-190E14DE9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279" y="2001436"/>
            <a:ext cx="7477125" cy="451485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6C0D44B-5E35-4A95-BB4A-5F604170BBC1}"/>
              </a:ext>
            </a:extLst>
          </p:cNvPr>
          <p:cNvSpPr txBox="1"/>
          <p:nvPr/>
        </p:nvSpPr>
        <p:spPr>
          <a:xfrm>
            <a:off x="1430279" y="1431497"/>
            <a:ext cx="7713721" cy="495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Hawkish Dictionary</a:t>
            </a:r>
          </a:p>
        </p:txBody>
      </p:sp>
    </p:spTree>
    <p:extLst>
      <p:ext uri="{BB962C8B-B14F-4D97-AF65-F5344CB8AC3E}">
        <p14:creationId xmlns:p14="http://schemas.microsoft.com/office/powerpoint/2010/main" val="2053164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683568" y="-371068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/>
        </p:nvCxnSpPr>
        <p:spPr>
          <a:xfrm flipH="1">
            <a:off x="692540" y="548680"/>
            <a:ext cx="9295796" cy="0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64352" y="143777"/>
            <a:ext cx="1935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Data preprocessing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45712" y="151887"/>
            <a:ext cx="1666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Lexicon Dictionary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-9283" y="1335821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각 삼각형 9"/>
          <p:cNvSpPr/>
          <p:nvPr/>
        </p:nvSpPr>
        <p:spPr>
          <a:xfrm rot="5400000">
            <a:off x="691922" y="1665893"/>
            <a:ext cx="81142" cy="1080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107504" y="1340768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504" y="1819563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549" y="882386"/>
            <a:ext cx="541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56571" y="148154"/>
            <a:ext cx="2246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Evaluation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9968" y="150020"/>
            <a:ext cx="1666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Conclusion</a:t>
            </a:r>
          </a:p>
        </p:txBody>
      </p:sp>
      <p:sp>
        <p:nvSpPr>
          <p:cNvPr id="40" name="갈매기형 수장 14">
            <a:extLst>
              <a:ext uri="{FF2B5EF4-FFF2-40B4-BE49-F238E27FC236}">
                <a16:creationId xmlns:a16="http://schemas.microsoft.com/office/drawing/2014/main" id="{DD99EDD9-FB4B-422C-8DFA-F636B05AA725}"/>
              </a:ext>
            </a:extLst>
          </p:cNvPr>
          <p:cNvSpPr/>
          <p:nvPr/>
        </p:nvSpPr>
        <p:spPr>
          <a:xfrm>
            <a:off x="1202060" y="1690424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" name="갈매기형 수장 15">
            <a:extLst>
              <a:ext uri="{FF2B5EF4-FFF2-40B4-BE49-F238E27FC236}">
                <a16:creationId xmlns:a16="http://schemas.microsoft.com/office/drawing/2014/main" id="{317C2704-563B-4252-B046-A84FC6D83940}"/>
              </a:ext>
            </a:extLst>
          </p:cNvPr>
          <p:cNvSpPr/>
          <p:nvPr/>
        </p:nvSpPr>
        <p:spPr>
          <a:xfrm>
            <a:off x="1054409" y="1690424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E207EF-E35D-4CE3-8836-BD69E70607F0}"/>
              </a:ext>
            </a:extLst>
          </p:cNvPr>
          <p:cNvSpPr txBox="1"/>
          <p:nvPr/>
        </p:nvSpPr>
        <p:spPr>
          <a:xfrm>
            <a:off x="809238" y="875067"/>
            <a:ext cx="39317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30" panose="02030504000101010101" pitchFamily="18" charset="-127"/>
                <a:ea typeface="-윤고딕330" panose="02030504000101010101" pitchFamily="18" charset="-127"/>
                <a:cs typeface="+mn-cs"/>
              </a:rPr>
              <a:t>1. </a:t>
            </a:r>
            <a:r>
              <a:rPr kumimoji="0" lang="ko-KR" altLang="en-US" sz="22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30" panose="02030504000101010101" pitchFamily="18" charset="-127"/>
                <a:ea typeface="-윤고딕330" panose="02030504000101010101" pitchFamily="18" charset="-127"/>
                <a:cs typeface="+mn-cs"/>
              </a:rPr>
              <a:t>극성 사전 구축</a:t>
            </a:r>
            <a:endParaRPr kumimoji="0" lang="en-US" altLang="ko-KR" sz="2200" b="0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30" panose="02030504000101010101" pitchFamily="18" charset="-127"/>
              <a:ea typeface="-윤고딕330" panose="02030504000101010101" pitchFamily="18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C0D44B-5E35-4A95-BB4A-5F604170BBC1}"/>
              </a:ext>
            </a:extLst>
          </p:cNvPr>
          <p:cNvSpPr txBox="1"/>
          <p:nvPr/>
        </p:nvSpPr>
        <p:spPr>
          <a:xfrm>
            <a:off x="1430279" y="1431497"/>
            <a:ext cx="7713721" cy="495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Dovish Dictionary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749493-BA27-42F6-B18A-B791246B5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420" y="2060848"/>
            <a:ext cx="7737003" cy="4536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987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683568" y="-371068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/>
        </p:nvCxnSpPr>
        <p:spPr>
          <a:xfrm flipH="1">
            <a:off x="692540" y="548680"/>
            <a:ext cx="9295796" cy="0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64352" y="143777"/>
            <a:ext cx="1935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Data preprocessing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45712" y="151887"/>
            <a:ext cx="1666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Lexicon Dictionary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-9283" y="1335821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각 삼각형 9"/>
          <p:cNvSpPr/>
          <p:nvPr/>
        </p:nvSpPr>
        <p:spPr>
          <a:xfrm rot="5400000">
            <a:off x="706814" y="1672812"/>
            <a:ext cx="95914" cy="108933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107504" y="1340768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504" y="1819563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549" y="882386"/>
            <a:ext cx="541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56571" y="148154"/>
            <a:ext cx="2246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Evaluation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9968" y="150020"/>
            <a:ext cx="1666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Conclusion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B7F2870-AFC5-4668-8400-EB2FE8DDDD6B}"/>
              </a:ext>
            </a:extLst>
          </p:cNvPr>
          <p:cNvSpPr txBox="1"/>
          <p:nvPr/>
        </p:nvSpPr>
        <p:spPr>
          <a:xfrm>
            <a:off x="1402843" y="1481009"/>
            <a:ext cx="4667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30" panose="02030504000101010101" pitchFamily="18" charset="-127"/>
                <a:ea typeface="-윤고딕330" panose="02030504000101010101" pitchFamily="18" charset="-127"/>
                <a:cs typeface="+mn-cs"/>
              </a:rPr>
              <a:t>순서</a:t>
            </a:r>
            <a:endParaRPr kumimoji="0" lang="en-US" altLang="ko-KR" sz="1600" b="0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30" panose="02030504000101010101" pitchFamily="18" charset="-127"/>
              <a:ea typeface="-윤고딕330" panose="02030504000101010101" pitchFamily="18" charset="-127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0626FA5-492B-4048-A6B3-363890FD5840}"/>
              </a:ext>
            </a:extLst>
          </p:cNvPr>
          <p:cNvSpPr txBox="1"/>
          <p:nvPr/>
        </p:nvSpPr>
        <p:spPr>
          <a:xfrm>
            <a:off x="1115617" y="1938826"/>
            <a:ext cx="8028383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15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</a:rPr>
              <a:t>금통위 의사록을 </a:t>
            </a:r>
            <a:r>
              <a:rPr lang="ko-KR" altLang="en-US" sz="1500" dirty="0" err="1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문장별로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 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n-gram 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도출 후 극성 사전과 비교하여 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tone of a sentence </a:t>
            </a:r>
          </a:p>
        </p:txBody>
      </p:sp>
      <p:sp>
        <p:nvSpPr>
          <p:cNvPr id="40" name="갈매기형 수장 14">
            <a:extLst>
              <a:ext uri="{FF2B5EF4-FFF2-40B4-BE49-F238E27FC236}">
                <a16:creationId xmlns:a16="http://schemas.microsoft.com/office/drawing/2014/main" id="{DD99EDD9-FB4B-422C-8DFA-F636B05AA725}"/>
              </a:ext>
            </a:extLst>
          </p:cNvPr>
          <p:cNvSpPr/>
          <p:nvPr/>
        </p:nvSpPr>
        <p:spPr>
          <a:xfrm>
            <a:off x="1202060" y="1580246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" name="갈매기형 수장 15">
            <a:extLst>
              <a:ext uri="{FF2B5EF4-FFF2-40B4-BE49-F238E27FC236}">
                <a16:creationId xmlns:a16="http://schemas.microsoft.com/office/drawing/2014/main" id="{317C2704-563B-4252-B046-A84FC6D83940}"/>
              </a:ext>
            </a:extLst>
          </p:cNvPr>
          <p:cNvSpPr/>
          <p:nvPr/>
        </p:nvSpPr>
        <p:spPr>
          <a:xfrm>
            <a:off x="1054409" y="1580246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E207EF-E35D-4CE3-8836-BD69E70607F0}"/>
              </a:ext>
            </a:extLst>
          </p:cNvPr>
          <p:cNvSpPr txBox="1"/>
          <p:nvPr/>
        </p:nvSpPr>
        <p:spPr>
          <a:xfrm>
            <a:off x="809238" y="875067"/>
            <a:ext cx="39317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2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2</a:t>
            </a:r>
            <a:r>
              <a:rPr kumimoji="0" lang="en-US" altLang="ko-KR" sz="22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30" panose="02030504000101010101" pitchFamily="18" charset="-127"/>
                <a:ea typeface="-윤고딕330" panose="02030504000101010101" pitchFamily="18" charset="-127"/>
                <a:cs typeface="+mn-cs"/>
              </a:rPr>
              <a:t>. </a:t>
            </a:r>
            <a:r>
              <a:rPr kumimoji="0" lang="ko-KR" altLang="en-US" sz="22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30" panose="02030504000101010101" pitchFamily="18" charset="-127"/>
                <a:ea typeface="-윤고딕330" panose="02030504000101010101" pitchFamily="18" charset="-127"/>
                <a:cs typeface="+mn-cs"/>
              </a:rPr>
              <a:t>평가</a:t>
            </a:r>
            <a:endParaRPr kumimoji="0" lang="en-US" altLang="ko-KR" sz="2200" b="0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30" panose="02030504000101010101" pitchFamily="18" charset="-127"/>
              <a:ea typeface="-윤고딕330" panose="02030504000101010101" pitchFamily="18" charset="-127"/>
              <a:cs typeface="+mn-cs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754" y="2474274"/>
            <a:ext cx="6366120" cy="70157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0626FA5-492B-4048-A6B3-363890FD5840}"/>
              </a:ext>
            </a:extLst>
          </p:cNvPr>
          <p:cNvSpPr txBox="1"/>
          <p:nvPr/>
        </p:nvSpPr>
        <p:spPr>
          <a:xfrm>
            <a:off x="1080121" y="3356992"/>
            <a:ext cx="8028383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금통위 의사록을 </a:t>
            </a:r>
            <a:r>
              <a:rPr lang="ko-KR" altLang="en-US" sz="1500" dirty="0" err="1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문장별로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 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n-gram 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도출 후 극성 사전과 비교하여 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tone of a document 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도출</a:t>
            </a:r>
            <a:endParaRPr lang="en-US" altLang="ko-KR" sz="150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2753" y="3836881"/>
            <a:ext cx="6008681" cy="85991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0626FA5-492B-4048-A6B3-363890FD5840}"/>
              </a:ext>
            </a:extLst>
          </p:cNvPr>
          <p:cNvSpPr txBox="1"/>
          <p:nvPr/>
        </p:nvSpPr>
        <p:spPr>
          <a:xfrm>
            <a:off x="1080120" y="4834282"/>
            <a:ext cx="8028383" cy="4090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금통위 문서의 톤과 기준 금리의 상관관계를 도출</a:t>
            </a:r>
            <a:endParaRPr lang="en-US" altLang="ko-KR" sz="150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56536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683568" y="-371068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/>
        </p:nvCxnSpPr>
        <p:spPr>
          <a:xfrm flipH="1">
            <a:off x="692540" y="548680"/>
            <a:ext cx="9295796" cy="0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64352" y="143777"/>
            <a:ext cx="1935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Data preprocessing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45712" y="151887"/>
            <a:ext cx="1666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Lexicon Dictionary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-9283" y="1335821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각 삼각형 9"/>
          <p:cNvSpPr/>
          <p:nvPr/>
        </p:nvSpPr>
        <p:spPr>
          <a:xfrm rot="5400000">
            <a:off x="706814" y="1672812"/>
            <a:ext cx="95914" cy="108933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107504" y="1340768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504" y="1819563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549" y="882386"/>
            <a:ext cx="541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56571" y="148154"/>
            <a:ext cx="2246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Evaluation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9968" y="150020"/>
            <a:ext cx="1666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Conclusion</a:t>
            </a:r>
          </a:p>
        </p:txBody>
      </p:sp>
      <p:sp>
        <p:nvSpPr>
          <p:cNvPr id="40" name="갈매기형 수장 14">
            <a:extLst>
              <a:ext uri="{FF2B5EF4-FFF2-40B4-BE49-F238E27FC236}">
                <a16:creationId xmlns:a16="http://schemas.microsoft.com/office/drawing/2014/main" id="{DD99EDD9-FB4B-422C-8DFA-F636B05AA725}"/>
              </a:ext>
            </a:extLst>
          </p:cNvPr>
          <p:cNvSpPr/>
          <p:nvPr/>
        </p:nvSpPr>
        <p:spPr>
          <a:xfrm>
            <a:off x="1202060" y="1580246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" name="갈매기형 수장 15">
            <a:extLst>
              <a:ext uri="{FF2B5EF4-FFF2-40B4-BE49-F238E27FC236}">
                <a16:creationId xmlns:a16="http://schemas.microsoft.com/office/drawing/2014/main" id="{317C2704-563B-4252-B046-A84FC6D83940}"/>
              </a:ext>
            </a:extLst>
          </p:cNvPr>
          <p:cNvSpPr/>
          <p:nvPr/>
        </p:nvSpPr>
        <p:spPr>
          <a:xfrm>
            <a:off x="1054409" y="1580246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E207EF-E35D-4CE3-8836-BD69E70607F0}"/>
              </a:ext>
            </a:extLst>
          </p:cNvPr>
          <p:cNvSpPr txBox="1"/>
          <p:nvPr/>
        </p:nvSpPr>
        <p:spPr>
          <a:xfrm>
            <a:off x="809238" y="875067"/>
            <a:ext cx="39317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2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2</a:t>
            </a:r>
            <a:r>
              <a:rPr kumimoji="0" lang="en-US" altLang="ko-KR" sz="22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30" panose="02030504000101010101" pitchFamily="18" charset="-127"/>
                <a:ea typeface="-윤고딕330" panose="02030504000101010101" pitchFamily="18" charset="-127"/>
                <a:cs typeface="+mn-cs"/>
              </a:rPr>
              <a:t>. </a:t>
            </a:r>
            <a:r>
              <a:rPr kumimoji="0" lang="ko-KR" altLang="en-US" sz="22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30" panose="02030504000101010101" pitchFamily="18" charset="-127"/>
                <a:ea typeface="-윤고딕330" panose="02030504000101010101" pitchFamily="18" charset="-127"/>
                <a:cs typeface="+mn-cs"/>
              </a:rPr>
              <a:t>평가</a:t>
            </a:r>
            <a:endParaRPr kumimoji="0" lang="en-US" altLang="ko-KR" sz="2200" b="0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30" panose="02030504000101010101" pitchFamily="18" charset="-127"/>
              <a:ea typeface="-윤고딕330" panose="02030504000101010101" pitchFamily="18" charset="-127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E382C84-8EFE-4815-A2A8-02B2112C57C9}"/>
              </a:ext>
            </a:extLst>
          </p:cNvPr>
          <p:cNvSpPr txBox="1"/>
          <p:nvPr/>
        </p:nvSpPr>
        <p:spPr>
          <a:xfrm>
            <a:off x="1380922" y="1380981"/>
            <a:ext cx="8028383" cy="4090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5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</a:rPr>
              <a:t>금통위 의사록을 </a:t>
            </a:r>
            <a:r>
              <a:rPr lang="ko-KR" altLang="en-US" sz="1500" dirty="0" err="1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문장별로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 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n-gram 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도출 후 극성 사전과 비교하여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 Count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37AD05F-BF05-401A-AFBC-C45042A16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568" y="2129630"/>
            <a:ext cx="6400800" cy="29622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A61CCD0-4876-4D25-88C0-328491BDEF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042" y="1943851"/>
            <a:ext cx="8281724" cy="4264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7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683568" y="-371068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/>
        </p:nvCxnSpPr>
        <p:spPr>
          <a:xfrm flipH="1">
            <a:off x="692540" y="548680"/>
            <a:ext cx="9295796" cy="0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64352" y="143777"/>
            <a:ext cx="1935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Data preprocessing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45712" y="151887"/>
            <a:ext cx="1666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Lexicon Dictionary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-9283" y="1335821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각 삼각형 9"/>
          <p:cNvSpPr/>
          <p:nvPr/>
        </p:nvSpPr>
        <p:spPr>
          <a:xfrm rot="5400000">
            <a:off x="706814" y="1672812"/>
            <a:ext cx="95914" cy="108933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107504" y="1340768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504" y="1819563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549" y="882386"/>
            <a:ext cx="541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56571" y="148154"/>
            <a:ext cx="2246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Evaluation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9968" y="150020"/>
            <a:ext cx="1666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Conclusion</a:t>
            </a:r>
          </a:p>
        </p:txBody>
      </p:sp>
      <p:sp>
        <p:nvSpPr>
          <p:cNvPr id="40" name="갈매기형 수장 14">
            <a:extLst>
              <a:ext uri="{FF2B5EF4-FFF2-40B4-BE49-F238E27FC236}">
                <a16:creationId xmlns:a16="http://schemas.microsoft.com/office/drawing/2014/main" id="{DD99EDD9-FB4B-422C-8DFA-F636B05AA725}"/>
              </a:ext>
            </a:extLst>
          </p:cNvPr>
          <p:cNvSpPr/>
          <p:nvPr/>
        </p:nvSpPr>
        <p:spPr>
          <a:xfrm>
            <a:off x="1202060" y="1580246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" name="갈매기형 수장 15">
            <a:extLst>
              <a:ext uri="{FF2B5EF4-FFF2-40B4-BE49-F238E27FC236}">
                <a16:creationId xmlns:a16="http://schemas.microsoft.com/office/drawing/2014/main" id="{317C2704-563B-4252-B046-A84FC6D83940}"/>
              </a:ext>
            </a:extLst>
          </p:cNvPr>
          <p:cNvSpPr/>
          <p:nvPr/>
        </p:nvSpPr>
        <p:spPr>
          <a:xfrm>
            <a:off x="1054409" y="1580246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E207EF-E35D-4CE3-8836-BD69E70607F0}"/>
              </a:ext>
            </a:extLst>
          </p:cNvPr>
          <p:cNvSpPr txBox="1"/>
          <p:nvPr/>
        </p:nvSpPr>
        <p:spPr>
          <a:xfrm>
            <a:off x="809238" y="875067"/>
            <a:ext cx="39317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2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2</a:t>
            </a:r>
            <a:r>
              <a:rPr kumimoji="0" lang="en-US" altLang="ko-KR" sz="22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30" panose="02030504000101010101" pitchFamily="18" charset="-127"/>
                <a:ea typeface="-윤고딕330" panose="02030504000101010101" pitchFamily="18" charset="-127"/>
                <a:cs typeface="+mn-cs"/>
              </a:rPr>
              <a:t>. </a:t>
            </a:r>
            <a:r>
              <a:rPr kumimoji="0" lang="ko-KR" altLang="en-US" sz="22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30" panose="02030504000101010101" pitchFamily="18" charset="-127"/>
                <a:ea typeface="-윤고딕330" panose="02030504000101010101" pitchFamily="18" charset="-127"/>
                <a:cs typeface="+mn-cs"/>
              </a:rPr>
              <a:t>평가</a:t>
            </a:r>
            <a:endParaRPr kumimoji="0" lang="en-US" altLang="ko-KR" sz="2200" b="0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30" panose="02030504000101010101" pitchFamily="18" charset="-127"/>
              <a:ea typeface="-윤고딕330" panose="02030504000101010101" pitchFamily="18" charset="-127"/>
              <a:cs typeface="+mn-cs"/>
            </a:endParaRPr>
          </a:p>
        </p:txBody>
      </p:sp>
      <p:pic>
        <p:nvPicPr>
          <p:cNvPr id="18" name="그림 1">
            <a:extLst>
              <a:ext uri="{FF2B5EF4-FFF2-40B4-BE49-F238E27FC236}">
                <a16:creationId xmlns:a16="http://schemas.microsoft.com/office/drawing/2014/main" id="{3A51B32F-3E4A-4768-A618-CDB6A7DF8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471" y="1315164"/>
            <a:ext cx="6366120" cy="70157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AC9FE60-F781-43EE-8E9A-1EAA75FF8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2291028"/>
            <a:ext cx="8105044" cy="382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334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683568" y="-371068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/>
        </p:nvCxnSpPr>
        <p:spPr>
          <a:xfrm flipH="1">
            <a:off x="692540" y="548680"/>
            <a:ext cx="9295796" cy="0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64352" y="143777"/>
            <a:ext cx="1935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Data preprocessing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45712" y="151887"/>
            <a:ext cx="1666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Lexicon Dictionary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-9283" y="1335821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각 삼각형 9"/>
          <p:cNvSpPr/>
          <p:nvPr/>
        </p:nvSpPr>
        <p:spPr>
          <a:xfrm rot="5400000">
            <a:off x="706814" y="1672812"/>
            <a:ext cx="95914" cy="108933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107504" y="1340768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504" y="1819563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549" y="882386"/>
            <a:ext cx="541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56571" y="148154"/>
            <a:ext cx="2246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Evaluation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9968" y="150020"/>
            <a:ext cx="1666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Conclusion</a:t>
            </a:r>
          </a:p>
        </p:txBody>
      </p:sp>
      <p:sp>
        <p:nvSpPr>
          <p:cNvPr id="40" name="갈매기형 수장 14">
            <a:extLst>
              <a:ext uri="{FF2B5EF4-FFF2-40B4-BE49-F238E27FC236}">
                <a16:creationId xmlns:a16="http://schemas.microsoft.com/office/drawing/2014/main" id="{DD99EDD9-FB4B-422C-8DFA-F636B05AA725}"/>
              </a:ext>
            </a:extLst>
          </p:cNvPr>
          <p:cNvSpPr/>
          <p:nvPr/>
        </p:nvSpPr>
        <p:spPr>
          <a:xfrm>
            <a:off x="1202060" y="1580246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" name="갈매기형 수장 15">
            <a:extLst>
              <a:ext uri="{FF2B5EF4-FFF2-40B4-BE49-F238E27FC236}">
                <a16:creationId xmlns:a16="http://schemas.microsoft.com/office/drawing/2014/main" id="{317C2704-563B-4252-B046-A84FC6D83940}"/>
              </a:ext>
            </a:extLst>
          </p:cNvPr>
          <p:cNvSpPr/>
          <p:nvPr/>
        </p:nvSpPr>
        <p:spPr>
          <a:xfrm>
            <a:off x="1054409" y="1580246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E207EF-E35D-4CE3-8836-BD69E70607F0}"/>
              </a:ext>
            </a:extLst>
          </p:cNvPr>
          <p:cNvSpPr txBox="1"/>
          <p:nvPr/>
        </p:nvSpPr>
        <p:spPr>
          <a:xfrm>
            <a:off x="809238" y="875067"/>
            <a:ext cx="39317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2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2</a:t>
            </a:r>
            <a:r>
              <a:rPr kumimoji="0" lang="en-US" altLang="ko-KR" sz="22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30" panose="02030504000101010101" pitchFamily="18" charset="-127"/>
                <a:ea typeface="-윤고딕330" panose="02030504000101010101" pitchFamily="18" charset="-127"/>
                <a:cs typeface="+mn-cs"/>
              </a:rPr>
              <a:t>. </a:t>
            </a:r>
            <a:r>
              <a:rPr kumimoji="0" lang="ko-KR" altLang="en-US" sz="22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30" panose="02030504000101010101" pitchFamily="18" charset="-127"/>
                <a:ea typeface="-윤고딕330" panose="02030504000101010101" pitchFamily="18" charset="-127"/>
                <a:cs typeface="+mn-cs"/>
              </a:rPr>
              <a:t>평가</a:t>
            </a:r>
            <a:endParaRPr kumimoji="0" lang="en-US" altLang="ko-KR" sz="2200" b="0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30" panose="02030504000101010101" pitchFamily="18" charset="-127"/>
              <a:ea typeface="-윤고딕330" panose="02030504000101010101" pitchFamily="18" charset="-127"/>
              <a:cs typeface="+mn-cs"/>
            </a:endParaRPr>
          </a:p>
        </p:txBody>
      </p:sp>
      <p:pic>
        <p:nvPicPr>
          <p:cNvPr id="17" name="그림 2">
            <a:extLst>
              <a:ext uri="{FF2B5EF4-FFF2-40B4-BE49-F238E27FC236}">
                <a16:creationId xmlns:a16="http://schemas.microsoft.com/office/drawing/2014/main" id="{63B06EF6-C406-45E0-866A-77A6157FA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009" y="1202380"/>
            <a:ext cx="6008681" cy="85991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EB15685-CF6D-4F8D-85AA-9C55D629CE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6224" y="2348880"/>
            <a:ext cx="5048250" cy="406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163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683568" y="-371068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/>
        </p:nvCxnSpPr>
        <p:spPr>
          <a:xfrm flipH="1">
            <a:off x="692540" y="548680"/>
            <a:ext cx="9295796" cy="0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64352" y="143777"/>
            <a:ext cx="1935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Data preprocessing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45712" y="151887"/>
            <a:ext cx="1666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Lexicon Dictionary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-9283" y="1335821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각 삼각형 9"/>
          <p:cNvSpPr/>
          <p:nvPr/>
        </p:nvSpPr>
        <p:spPr>
          <a:xfrm rot="5400000">
            <a:off x="706814" y="1672812"/>
            <a:ext cx="95914" cy="108933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107504" y="1340768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504" y="1819563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549" y="882386"/>
            <a:ext cx="541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56571" y="148154"/>
            <a:ext cx="2246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Evaluation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9968" y="150020"/>
            <a:ext cx="1666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Conclusion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E207EF-E35D-4CE3-8836-BD69E70607F0}"/>
              </a:ext>
            </a:extLst>
          </p:cNvPr>
          <p:cNvSpPr txBox="1"/>
          <p:nvPr/>
        </p:nvSpPr>
        <p:spPr>
          <a:xfrm>
            <a:off x="809238" y="875067"/>
            <a:ext cx="39317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2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2</a:t>
            </a:r>
            <a:r>
              <a:rPr kumimoji="0" lang="en-US" altLang="ko-KR" sz="22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30" panose="02030504000101010101" pitchFamily="18" charset="-127"/>
                <a:ea typeface="-윤고딕330" panose="02030504000101010101" pitchFamily="18" charset="-127"/>
                <a:cs typeface="+mn-cs"/>
              </a:rPr>
              <a:t>. </a:t>
            </a:r>
            <a:r>
              <a:rPr kumimoji="0" lang="ko-KR" altLang="en-US" sz="22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30" panose="02030504000101010101" pitchFamily="18" charset="-127"/>
                <a:ea typeface="-윤고딕330" panose="02030504000101010101" pitchFamily="18" charset="-127"/>
                <a:cs typeface="+mn-cs"/>
              </a:rPr>
              <a:t>평가</a:t>
            </a:r>
            <a:endParaRPr kumimoji="0" lang="en-US" altLang="ko-KR" sz="2200" b="0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30" panose="02030504000101010101" pitchFamily="18" charset="-127"/>
              <a:ea typeface="-윤고딕330" panose="02030504000101010101" pitchFamily="18" charset="-127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FC82CD-D85D-44BB-AA46-976E35DBEE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405"/>
          <a:stretch/>
        </p:blipFill>
        <p:spPr>
          <a:xfrm>
            <a:off x="1187624" y="2029049"/>
            <a:ext cx="7479223" cy="276810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9A957CC-3F26-44BD-B659-D45A36A5B379}"/>
              </a:ext>
            </a:extLst>
          </p:cNvPr>
          <p:cNvSpPr/>
          <p:nvPr/>
        </p:nvSpPr>
        <p:spPr>
          <a:xfrm>
            <a:off x="7380312" y="3933056"/>
            <a:ext cx="864096" cy="360040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798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683568" y="-371068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/>
        </p:nvCxnSpPr>
        <p:spPr>
          <a:xfrm flipH="1">
            <a:off x="692540" y="548680"/>
            <a:ext cx="9295796" cy="0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64352" y="143777"/>
            <a:ext cx="1935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Data preprocessing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45712" y="151887"/>
            <a:ext cx="1666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Lexicon Dictionary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-9283" y="1335821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각 삼각형 9"/>
          <p:cNvSpPr/>
          <p:nvPr/>
        </p:nvSpPr>
        <p:spPr>
          <a:xfrm rot="5400000">
            <a:off x="706814" y="1672812"/>
            <a:ext cx="95914" cy="108933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107504" y="1340768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504" y="1819563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549" y="882386"/>
            <a:ext cx="541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56571" y="148154"/>
            <a:ext cx="2246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Evaluation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9968" y="150020"/>
            <a:ext cx="1666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Conclusion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B7F2870-AFC5-4668-8400-EB2FE8DDDD6B}"/>
              </a:ext>
            </a:extLst>
          </p:cNvPr>
          <p:cNvSpPr txBox="1"/>
          <p:nvPr/>
        </p:nvSpPr>
        <p:spPr>
          <a:xfrm>
            <a:off x="1402843" y="1481009"/>
            <a:ext cx="4667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상관관계를 올리기 위한 시도</a:t>
            </a:r>
            <a:endParaRPr kumimoji="0" lang="en-US" altLang="ko-KR" sz="1600" b="0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30" panose="02030504000101010101" pitchFamily="18" charset="-127"/>
              <a:ea typeface="-윤고딕330" panose="02030504000101010101" pitchFamily="18" charset="-127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0626FA5-492B-4048-A6B3-363890FD5840}"/>
              </a:ext>
            </a:extLst>
          </p:cNvPr>
          <p:cNvSpPr txBox="1"/>
          <p:nvPr/>
        </p:nvSpPr>
        <p:spPr>
          <a:xfrm>
            <a:off x="1115617" y="1938826"/>
            <a:ext cx="8028383" cy="41780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금융통화위원회 의사록 어조와 기준금리와 상관관계</a:t>
            </a:r>
            <a:endParaRPr lang="en-US" altLang="ko-KR" sz="150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  <a:p>
            <a:pPr marR="0" lvl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ko-KR" sz="70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  <a:p>
            <a:pPr marL="800100" lvl="1" indent="-342900">
              <a:lnSpc>
                <a:spcPct val="150000"/>
              </a:lnSpc>
              <a:buAutoNum type="arabicPeriod"/>
              <a:defRPr/>
            </a:pP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Version 1 : </a:t>
            </a:r>
            <a:r>
              <a:rPr lang="en-US" altLang="ko-KR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60" panose="02030504000101010101" pitchFamily="18" charset="-127"/>
                <a:ea typeface="-윤고딕360" panose="02030504000101010101" pitchFamily="18" charset="-127"/>
              </a:rPr>
              <a:t>0.205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4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채권분석보고서 전처리 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: 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한글 추출 후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, 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무단 배포에 관련된 문장 제거</a:t>
            </a:r>
            <a:endParaRPr lang="en-US" altLang="ko-KR" sz="150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네이버 뉴스 기사 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: 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FF0000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기사 별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로 </a:t>
            </a:r>
            <a:r>
              <a:rPr lang="en-US" altLang="ko-KR" sz="1500" dirty="0" err="1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n_gram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 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추출 </a:t>
            </a:r>
            <a:endParaRPr lang="en-US" altLang="ko-KR" sz="150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Hawkish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 사전 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: 12,846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개 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, Dovish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 사전 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: 14,294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개</a:t>
            </a:r>
            <a:endParaRPr lang="en-US" altLang="ko-KR" sz="150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  <a:p>
            <a:pPr marR="0" lvl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ko-KR" sz="150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  <a:p>
            <a:pPr marL="800100" lvl="1" indent="-342900">
              <a:lnSpc>
                <a:spcPct val="150000"/>
              </a:lnSpc>
              <a:buAutoNum type="arabicPeriod" startAt="2"/>
              <a:defRPr/>
            </a:pP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Version 2 : </a:t>
            </a:r>
            <a:r>
              <a:rPr lang="en-US" altLang="ko-KR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60" panose="02030504000101010101" pitchFamily="18" charset="-127"/>
                <a:ea typeface="-윤고딕360" panose="02030504000101010101" pitchFamily="18" charset="-127"/>
              </a:rPr>
              <a:t>0.386</a:t>
            </a:r>
            <a:endParaRPr lang="en-US" altLang="ko-KR" sz="150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latin typeface="-윤고딕360" panose="02030504000101010101" pitchFamily="18" charset="-127"/>
              <a:ea typeface="-윤고딕360" panose="02030504000101010101" pitchFamily="18" charset="-127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ko-KR" sz="8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 </a:t>
            </a:r>
            <a:endParaRPr lang="en-US" altLang="ko-KR" sz="150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채권분석보고서 전처리 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: 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증권사별 전처리 진행</a:t>
            </a:r>
            <a:endParaRPr lang="en-US" altLang="ko-KR" sz="150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네이버 뉴스 기사 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: 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기사 내 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FF0000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문장 별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로 </a:t>
            </a:r>
            <a:r>
              <a:rPr lang="en-US" altLang="ko-KR" sz="1500" dirty="0" err="1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n_gram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 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추출</a:t>
            </a:r>
            <a:endParaRPr lang="en-US" altLang="ko-KR" sz="150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Hawkish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 사전 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: 11,370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개 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, Dovish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 사전 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: 14,155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개 </a:t>
            </a:r>
            <a:endParaRPr lang="en-US" altLang="ko-KR" sz="150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sp>
        <p:nvSpPr>
          <p:cNvPr id="40" name="갈매기형 수장 14">
            <a:extLst>
              <a:ext uri="{FF2B5EF4-FFF2-40B4-BE49-F238E27FC236}">
                <a16:creationId xmlns:a16="http://schemas.microsoft.com/office/drawing/2014/main" id="{DD99EDD9-FB4B-422C-8DFA-F636B05AA725}"/>
              </a:ext>
            </a:extLst>
          </p:cNvPr>
          <p:cNvSpPr/>
          <p:nvPr/>
        </p:nvSpPr>
        <p:spPr>
          <a:xfrm>
            <a:off x="1202060" y="1580246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" name="갈매기형 수장 15">
            <a:extLst>
              <a:ext uri="{FF2B5EF4-FFF2-40B4-BE49-F238E27FC236}">
                <a16:creationId xmlns:a16="http://schemas.microsoft.com/office/drawing/2014/main" id="{317C2704-563B-4252-B046-A84FC6D83940}"/>
              </a:ext>
            </a:extLst>
          </p:cNvPr>
          <p:cNvSpPr/>
          <p:nvPr/>
        </p:nvSpPr>
        <p:spPr>
          <a:xfrm>
            <a:off x="1054409" y="1580246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E207EF-E35D-4CE3-8836-BD69E70607F0}"/>
              </a:ext>
            </a:extLst>
          </p:cNvPr>
          <p:cNvSpPr txBox="1"/>
          <p:nvPr/>
        </p:nvSpPr>
        <p:spPr>
          <a:xfrm>
            <a:off x="809238" y="875067"/>
            <a:ext cx="39317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2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2</a:t>
            </a:r>
            <a:r>
              <a:rPr kumimoji="0" lang="en-US" altLang="ko-KR" sz="22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30" panose="02030504000101010101" pitchFamily="18" charset="-127"/>
                <a:ea typeface="-윤고딕330" panose="02030504000101010101" pitchFamily="18" charset="-127"/>
                <a:cs typeface="+mn-cs"/>
              </a:rPr>
              <a:t>. </a:t>
            </a:r>
            <a:r>
              <a:rPr kumimoji="0" lang="ko-KR" altLang="en-US" sz="22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30" panose="02030504000101010101" pitchFamily="18" charset="-127"/>
                <a:ea typeface="-윤고딕330" panose="02030504000101010101" pitchFamily="18" charset="-127"/>
                <a:cs typeface="+mn-cs"/>
              </a:rPr>
              <a:t>평가</a:t>
            </a:r>
            <a:endParaRPr kumimoji="0" lang="en-US" altLang="ko-KR" sz="2200" b="0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30" panose="02030504000101010101" pitchFamily="18" charset="-127"/>
              <a:ea typeface="-윤고딕330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5400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683568" y="-371068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/>
        </p:nvCxnSpPr>
        <p:spPr>
          <a:xfrm flipH="1">
            <a:off x="692540" y="548680"/>
            <a:ext cx="9295796" cy="0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64352" y="143777"/>
            <a:ext cx="1935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Data preprocessing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45712" y="151887"/>
            <a:ext cx="1666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Lexicon Dictionary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-9283" y="1335821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각 삼각형 9"/>
          <p:cNvSpPr/>
          <p:nvPr/>
        </p:nvSpPr>
        <p:spPr>
          <a:xfrm rot="5400000">
            <a:off x="706814" y="1672812"/>
            <a:ext cx="95914" cy="108933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107504" y="1340768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504" y="1819563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549" y="882386"/>
            <a:ext cx="541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56571" y="148154"/>
            <a:ext cx="2246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Evaluation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9968" y="150020"/>
            <a:ext cx="1666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Conclusion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B7F2870-AFC5-4668-8400-EB2FE8DDDD6B}"/>
              </a:ext>
            </a:extLst>
          </p:cNvPr>
          <p:cNvSpPr txBox="1"/>
          <p:nvPr/>
        </p:nvSpPr>
        <p:spPr>
          <a:xfrm>
            <a:off x="1402843" y="1481009"/>
            <a:ext cx="4667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상관관계를 올리기 위한 시도</a:t>
            </a:r>
            <a:endParaRPr kumimoji="0" lang="en-US" altLang="ko-KR" sz="1600" b="0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30" panose="02030504000101010101" pitchFamily="18" charset="-127"/>
              <a:ea typeface="-윤고딕330" panose="02030504000101010101" pitchFamily="18" charset="-127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0626FA5-492B-4048-A6B3-363890FD5840}"/>
              </a:ext>
            </a:extLst>
          </p:cNvPr>
          <p:cNvSpPr txBox="1"/>
          <p:nvPr/>
        </p:nvSpPr>
        <p:spPr>
          <a:xfrm>
            <a:off x="1115617" y="1938826"/>
            <a:ext cx="8028383" cy="3109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금융통화위원회 의사록 어조와 기준금리와 상관관계</a:t>
            </a:r>
            <a:endParaRPr lang="en-US" altLang="ko-KR" sz="150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  <a:p>
            <a:pPr marR="0" lvl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ko-KR" sz="70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3.	Version 3 : </a:t>
            </a:r>
            <a:r>
              <a:rPr lang="en-US" altLang="ko-KR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60" panose="02030504000101010101" pitchFamily="18" charset="-127"/>
                <a:ea typeface="-윤고딕360" panose="02030504000101010101" pitchFamily="18" charset="-127"/>
              </a:rPr>
              <a:t>0.376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4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Bagging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을 활용한 사전 구축 </a:t>
            </a:r>
            <a:endParaRPr lang="en-US" altLang="ko-KR" sz="150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네이버 뉴스 기사 문장과 채권 보고서를 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9:1 train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과 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test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로 분리</a:t>
            </a:r>
            <a:endParaRPr lang="en-US" altLang="ko-KR" sz="150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총 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5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개의 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train, test set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으로 사전을 만들고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, </a:t>
            </a:r>
            <a:r>
              <a:rPr lang="ko-KR" altLang="en-US" sz="1500" dirty="0" err="1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최빈값으로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 사전 생성</a:t>
            </a:r>
            <a:endParaRPr lang="en-US" altLang="ko-KR" sz="150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큰 변화는 보이지 않음 </a:t>
            </a:r>
            <a:endParaRPr lang="en-US" altLang="ko-KR" sz="150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Hawkish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 사전 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: 10,954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개 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, Dovish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 사전 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: 13,607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개</a:t>
            </a:r>
            <a:endParaRPr lang="en-US" altLang="ko-KR" sz="150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  <a:p>
            <a:pPr marR="0" lvl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ko-KR" sz="150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sp>
        <p:nvSpPr>
          <p:cNvPr id="40" name="갈매기형 수장 14">
            <a:extLst>
              <a:ext uri="{FF2B5EF4-FFF2-40B4-BE49-F238E27FC236}">
                <a16:creationId xmlns:a16="http://schemas.microsoft.com/office/drawing/2014/main" id="{DD99EDD9-FB4B-422C-8DFA-F636B05AA725}"/>
              </a:ext>
            </a:extLst>
          </p:cNvPr>
          <p:cNvSpPr/>
          <p:nvPr/>
        </p:nvSpPr>
        <p:spPr>
          <a:xfrm>
            <a:off x="1202060" y="1580246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" name="갈매기형 수장 15">
            <a:extLst>
              <a:ext uri="{FF2B5EF4-FFF2-40B4-BE49-F238E27FC236}">
                <a16:creationId xmlns:a16="http://schemas.microsoft.com/office/drawing/2014/main" id="{317C2704-563B-4252-B046-A84FC6D83940}"/>
              </a:ext>
            </a:extLst>
          </p:cNvPr>
          <p:cNvSpPr/>
          <p:nvPr/>
        </p:nvSpPr>
        <p:spPr>
          <a:xfrm>
            <a:off x="1054409" y="1580246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E207EF-E35D-4CE3-8836-BD69E70607F0}"/>
              </a:ext>
            </a:extLst>
          </p:cNvPr>
          <p:cNvSpPr txBox="1"/>
          <p:nvPr/>
        </p:nvSpPr>
        <p:spPr>
          <a:xfrm>
            <a:off x="809238" y="875067"/>
            <a:ext cx="39317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2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2</a:t>
            </a:r>
            <a:r>
              <a:rPr kumimoji="0" lang="en-US" altLang="ko-KR" sz="22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30" panose="02030504000101010101" pitchFamily="18" charset="-127"/>
                <a:ea typeface="-윤고딕330" panose="02030504000101010101" pitchFamily="18" charset="-127"/>
                <a:cs typeface="+mn-cs"/>
              </a:rPr>
              <a:t>. </a:t>
            </a:r>
            <a:r>
              <a:rPr kumimoji="0" lang="ko-KR" altLang="en-US" sz="22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30" panose="02030504000101010101" pitchFamily="18" charset="-127"/>
                <a:ea typeface="-윤고딕330" panose="02030504000101010101" pitchFamily="18" charset="-127"/>
                <a:cs typeface="+mn-cs"/>
              </a:rPr>
              <a:t>평가</a:t>
            </a:r>
            <a:endParaRPr kumimoji="0" lang="en-US" altLang="ko-KR" sz="2200" b="0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30" panose="02030504000101010101" pitchFamily="18" charset="-127"/>
              <a:ea typeface="-윤고딕330" panose="02030504000101010101" pitchFamily="18" charset="-127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D71E87-2222-4F72-961A-A0D754349A9B}"/>
              </a:ext>
            </a:extLst>
          </p:cNvPr>
          <p:cNvSpPr txBox="1"/>
          <p:nvPr/>
        </p:nvSpPr>
        <p:spPr>
          <a:xfrm>
            <a:off x="1115616" y="4713966"/>
            <a:ext cx="8028383" cy="1724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ko-KR" sz="70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4.	Version 4 : </a:t>
            </a:r>
            <a:r>
              <a:rPr lang="en-US" altLang="ko-KR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60" panose="02030504000101010101" pitchFamily="18" charset="-127"/>
                <a:ea typeface="-윤고딕360" panose="02030504000101010101" pitchFamily="18" charset="-127"/>
              </a:rPr>
              <a:t>0.200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4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채권분석보고서 </a:t>
            </a:r>
            <a:r>
              <a:rPr lang="ko-KR" altLang="en-US" sz="1500" dirty="0" err="1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전처리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 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: 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보고서 내 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FF0000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문장 별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로 </a:t>
            </a:r>
            <a:r>
              <a:rPr lang="en-US" altLang="ko-KR" sz="1500" dirty="0" err="1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n_gram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 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추출</a:t>
            </a:r>
            <a:endParaRPr lang="en-US" altLang="ko-KR" sz="150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네이버 뉴스 기사 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: 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기사 내 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FF0000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문장 별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로 </a:t>
            </a:r>
            <a:r>
              <a:rPr lang="en-US" altLang="ko-KR" sz="1500" dirty="0" err="1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n_gram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 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추출</a:t>
            </a:r>
            <a:endParaRPr lang="en-US" altLang="ko-KR" sz="150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Hawkish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 사전 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: 12,122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개 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, Dovish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 사전 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: 13,550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개 </a:t>
            </a:r>
            <a:endParaRPr lang="en-US" altLang="ko-KR" sz="150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40054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211959" y="2996952"/>
            <a:ext cx="122413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-윤고딕360" panose="02030504000101010101" pitchFamily="18" charset="-127"/>
                <a:ea typeface="-윤고딕360" panose="02030504000101010101" pitchFamily="18" charset="-127"/>
              </a:rPr>
              <a:t>결론</a:t>
            </a:r>
            <a:endParaRPr lang="en-US" altLang="ko-KR" sz="28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chemeClr val="bg1"/>
              </a:solidFill>
              <a:latin typeface="-윤고딕360" panose="02030504000101010101" pitchFamily="18" charset="-127"/>
              <a:ea typeface="-윤고딕360" panose="02030504000101010101" pitchFamily="18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91880" y="2924944"/>
            <a:ext cx="11521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2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-윤고딕360" panose="02030504000101010101" pitchFamily="18" charset="-127"/>
                <a:ea typeface="-윤고딕360" panose="02030504000101010101" pitchFamily="18" charset="-127"/>
              </a:rPr>
              <a:t>03</a:t>
            </a:r>
            <a:endParaRPr lang="ko-KR" altLang="en-US" sz="32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chemeClr val="bg1"/>
              </a:solidFill>
              <a:latin typeface="-윤고딕360" panose="02030504000101010101" pitchFamily="18" charset="-127"/>
              <a:ea typeface="-윤고딕360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85161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683568" y="-371068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/>
        </p:nvCxnSpPr>
        <p:spPr>
          <a:xfrm flipH="1">
            <a:off x="692540" y="548680"/>
            <a:ext cx="9295796" cy="0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64352" y="143777"/>
            <a:ext cx="1935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Data preprocessing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45712" y="151887"/>
            <a:ext cx="1666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Lexicon Dictionary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-9283" y="1814616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각 삼각형 9"/>
          <p:cNvSpPr/>
          <p:nvPr/>
        </p:nvSpPr>
        <p:spPr>
          <a:xfrm rot="5400000">
            <a:off x="691922" y="2144688"/>
            <a:ext cx="81142" cy="1080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107504" y="1340768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504" y="1819563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549" y="882386"/>
            <a:ext cx="541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56571" y="148154"/>
            <a:ext cx="2246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Evaluation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9968" y="150020"/>
            <a:ext cx="1666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Conclusion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E207EF-E35D-4CE3-8836-BD69E70607F0}"/>
              </a:ext>
            </a:extLst>
          </p:cNvPr>
          <p:cNvSpPr txBox="1"/>
          <p:nvPr/>
        </p:nvSpPr>
        <p:spPr>
          <a:xfrm>
            <a:off x="1250750" y="1063904"/>
            <a:ext cx="657107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2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기존 연구 결과보다 상관 관계가 적게 나온 이유</a:t>
            </a:r>
            <a:endParaRPr kumimoji="0" lang="en-US" altLang="ko-KR" sz="2200" b="0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30" panose="02030504000101010101" pitchFamily="18" charset="-127"/>
              <a:ea typeface="-윤고딕330" panose="02030504000101010101" pitchFamily="18" charset="-127"/>
              <a:cs typeface="+mn-cs"/>
            </a:endParaRPr>
          </a:p>
        </p:txBody>
      </p:sp>
      <p:sp>
        <p:nvSpPr>
          <p:cNvPr id="14" name="갈매기형 수장 14">
            <a:extLst>
              <a:ext uri="{FF2B5EF4-FFF2-40B4-BE49-F238E27FC236}">
                <a16:creationId xmlns:a16="http://schemas.microsoft.com/office/drawing/2014/main" id="{DD99EDD9-FB4B-422C-8DFA-F636B05AA725}"/>
              </a:ext>
            </a:extLst>
          </p:cNvPr>
          <p:cNvSpPr/>
          <p:nvPr/>
        </p:nvSpPr>
        <p:spPr>
          <a:xfrm>
            <a:off x="1062666" y="1182781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갈매기형 수장 15">
            <a:extLst>
              <a:ext uri="{FF2B5EF4-FFF2-40B4-BE49-F238E27FC236}">
                <a16:creationId xmlns:a16="http://schemas.microsoft.com/office/drawing/2014/main" id="{317C2704-563B-4252-B046-A84FC6D83940}"/>
              </a:ext>
            </a:extLst>
          </p:cNvPr>
          <p:cNvSpPr/>
          <p:nvPr/>
        </p:nvSpPr>
        <p:spPr>
          <a:xfrm>
            <a:off x="915015" y="1182781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0626FA5-492B-4048-A6B3-363890FD5840}"/>
                  </a:ext>
                </a:extLst>
              </p:cNvPr>
              <p:cNvSpPr txBox="1"/>
              <p:nvPr/>
            </p:nvSpPr>
            <p:spPr>
              <a:xfrm>
                <a:off x="1212170" y="1526976"/>
                <a:ext cx="8028383" cy="428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R="0" lvl="0" algn="l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lang="en-US" altLang="ko-KR" sz="1500" dirty="0">
                    <a:ln>
                      <a:solidFill>
                        <a:prstClr val="black">
                          <a:alpha val="30000"/>
                        </a:prstClr>
                      </a:solidFill>
                    </a:ln>
                    <a:solidFill>
                      <a:srgbClr val="272123"/>
                    </a:solidFill>
                    <a:latin typeface="-윤고딕320" panose="02030504000101010101" pitchFamily="18" charset="-127"/>
                    <a:ea typeface="-윤고딕320" panose="02030504000101010101" pitchFamily="18" charset="-127"/>
                  </a:rPr>
                  <a:t>BOK</a:t>
                </a:r>
                <a:r>
                  <a:rPr lang="ko-KR" altLang="en-US" sz="1500" dirty="0">
                    <a:ln>
                      <a:solidFill>
                        <a:prstClr val="black">
                          <a:alpha val="30000"/>
                        </a:prstClr>
                      </a:solidFill>
                    </a:ln>
                    <a:solidFill>
                      <a:srgbClr val="272123"/>
                    </a:solidFill>
                    <a:latin typeface="-윤고딕320" panose="02030504000101010101" pitchFamily="18" charset="-127"/>
                    <a:ea typeface="-윤고딕320" panose="02030504000101010101" pitchFamily="18" charset="-127"/>
                  </a:rPr>
                  <a:t>경제연구 논문에서 </a:t>
                </a:r>
                <a14:m>
                  <m:oMath xmlns:m="http://schemas.openxmlformats.org/officeDocument/2006/math">
                    <m:r>
                      <a:rPr lang="en-US" altLang="ko-KR" sz="1500" b="0" i="1" smtClean="0">
                        <a:ln>
                          <a:solidFill>
                            <a:prstClr val="black">
                              <a:alpha val="30000"/>
                            </a:prstClr>
                          </a:solidFill>
                        </a:ln>
                        <a:solidFill>
                          <a:srgbClr val="272123"/>
                        </a:solidFill>
                        <a:latin typeface="Cambria Math" panose="02040503050406030204" pitchFamily="18" charset="0"/>
                        <a:ea typeface="-윤고딕320" panose="02030504000101010101" pitchFamily="18" charset="-127"/>
                      </a:rPr>
                      <m:t>𝑡𝑜𝑛</m:t>
                    </m:r>
                    <m:sSup>
                      <m:sSupPr>
                        <m:ctrlPr>
                          <a:rPr lang="en-US" altLang="ko-KR" sz="1500" b="0" i="1" smtClean="0">
                            <a:ln>
                              <a:solidFill>
                                <a:prstClr val="black">
                                  <a:alpha val="30000"/>
                                </a:prstClr>
                              </a:solidFill>
                            </a:ln>
                            <a:solidFill>
                              <a:srgbClr val="272123"/>
                            </a:solidFill>
                            <a:latin typeface="Cambria Math" panose="02040503050406030204" pitchFamily="18" charset="0"/>
                            <a:ea typeface="-윤고딕320" panose="02030504000101010101" pitchFamily="18" charset="-127"/>
                          </a:rPr>
                        </m:ctrlPr>
                      </m:sSupPr>
                      <m:e>
                        <m:r>
                          <a:rPr lang="en-US" altLang="ko-KR" sz="1500" b="0" i="1" smtClean="0">
                            <a:ln>
                              <a:solidFill>
                                <a:prstClr val="black">
                                  <a:alpha val="30000"/>
                                </a:prstClr>
                              </a:solidFill>
                            </a:ln>
                            <a:solidFill>
                              <a:srgbClr val="272123"/>
                            </a:solidFill>
                            <a:latin typeface="Cambria Math" panose="02040503050406030204" pitchFamily="18" charset="0"/>
                            <a:ea typeface="-윤고딕320" panose="02030504000101010101" pitchFamily="18" charset="-127"/>
                          </a:rPr>
                          <m:t>𝑒</m:t>
                        </m:r>
                      </m:e>
                      <m:sup>
                        <m:r>
                          <a:rPr lang="en-US" altLang="ko-KR" sz="1500" b="0" i="1" smtClean="0">
                            <a:ln>
                              <a:solidFill>
                                <a:prstClr val="black">
                                  <a:alpha val="30000"/>
                                </a:prstClr>
                              </a:solidFill>
                            </a:ln>
                            <a:solidFill>
                              <a:srgbClr val="272123"/>
                            </a:solidFill>
                            <a:latin typeface="Cambria Math" panose="02040503050406030204" pitchFamily="18" charset="0"/>
                            <a:ea typeface="-윤고딕320" panose="02030504000101010101" pitchFamily="18" charset="-127"/>
                          </a:rPr>
                          <m:t>𝑚𝑘𝑡</m:t>
                        </m:r>
                        <m:r>
                          <a:rPr lang="en-US" altLang="ko-KR" sz="1500" b="0" i="1" smtClean="0">
                            <a:ln>
                              <a:solidFill>
                                <a:prstClr val="black">
                                  <a:alpha val="30000"/>
                                </a:prstClr>
                              </a:solidFill>
                            </a:ln>
                            <a:solidFill>
                              <a:srgbClr val="272123"/>
                            </a:solidFill>
                            <a:latin typeface="Cambria Math" panose="02040503050406030204" pitchFamily="18" charset="0"/>
                            <a:ea typeface="-윤고딕320" panose="02030504000101010101" pitchFamily="18" charset="-127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US" altLang="ko-KR" sz="1500" dirty="0">
                    <a:ln>
                      <a:solidFill>
                        <a:prstClr val="black">
                          <a:alpha val="30000"/>
                        </a:prstClr>
                      </a:solidFill>
                    </a:ln>
                    <a:solidFill>
                      <a:srgbClr val="272123"/>
                    </a:solidFill>
                    <a:latin typeface="-윤고딕320" panose="02030504000101010101" pitchFamily="18" charset="-127"/>
                    <a:ea typeface="-윤고딕320" panose="02030504000101010101" pitchFamily="18" charset="-127"/>
                  </a:rPr>
                  <a:t> </a:t>
                </a:r>
                <a:r>
                  <a:rPr lang="ko-KR" altLang="en-US" sz="1500" dirty="0">
                    <a:ln>
                      <a:solidFill>
                        <a:prstClr val="black">
                          <a:alpha val="30000"/>
                        </a:prstClr>
                      </a:solidFill>
                    </a:ln>
                    <a:solidFill>
                      <a:srgbClr val="272123"/>
                    </a:solidFill>
                    <a:latin typeface="-윤고딕320" panose="02030504000101010101" pitchFamily="18" charset="-127"/>
                    <a:ea typeface="-윤고딕320" panose="02030504000101010101" pitchFamily="18" charset="-127"/>
                  </a:rPr>
                  <a:t>과 통화정책결정의 상관계수 </a:t>
                </a:r>
                <a:r>
                  <a:rPr lang="en-US" altLang="ko-KR" sz="1500" dirty="0">
                    <a:ln>
                      <a:solidFill>
                        <a:prstClr val="black">
                          <a:alpha val="30000"/>
                        </a:prstClr>
                      </a:solidFill>
                    </a:ln>
                    <a:solidFill>
                      <a:srgbClr val="272123"/>
                    </a:solidFill>
                    <a:latin typeface="-윤고딕320" panose="02030504000101010101" pitchFamily="18" charset="-127"/>
                    <a:ea typeface="-윤고딕320" panose="02030504000101010101" pitchFamily="18" charset="-127"/>
                  </a:rPr>
                  <a:t>: </a:t>
                </a:r>
                <a:r>
                  <a:rPr lang="en-US" altLang="ko-KR" sz="1600" b="1" dirty="0">
                    <a:ln>
                      <a:solidFill>
                        <a:prstClr val="black">
                          <a:alpha val="30000"/>
                        </a:prstClr>
                      </a:solidFill>
                    </a:ln>
                    <a:solidFill>
                      <a:srgbClr val="272123"/>
                    </a:solidFill>
                    <a:latin typeface="-윤고딕320" panose="02030504000101010101" pitchFamily="18" charset="-127"/>
                    <a:ea typeface="-윤고딕320" panose="02030504000101010101" pitchFamily="18" charset="-127"/>
                  </a:rPr>
                  <a:t>0.58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0626FA5-492B-4048-A6B3-363890FD58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2170" y="1526976"/>
                <a:ext cx="8028383" cy="42851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20626FA5-492B-4048-A6B3-363890FD5840}"/>
              </a:ext>
            </a:extLst>
          </p:cNvPr>
          <p:cNvSpPr txBox="1"/>
          <p:nvPr/>
        </p:nvSpPr>
        <p:spPr>
          <a:xfrm>
            <a:off x="1055396" y="2128891"/>
            <a:ext cx="7713721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Preparing the Corpus (</a:t>
            </a:r>
            <a:r>
              <a:rPr lang="ko-KR" altLang="en-US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데이터 개수 차이</a:t>
            </a:r>
            <a:r>
              <a:rPr lang="en-US" altLang="ko-KR" sz="1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)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BOK 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논문</a:t>
            </a:r>
            <a:endParaRPr lang="en-US" altLang="ko-KR" sz="150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  <a:p>
            <a:pPr marL="1200150" lvl="2" indent="-2857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151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개의 의사록</a:t>
            </a:r>
            <a:endParaRPr lang="en-US" altLang="ko-KR" sz="150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  <a:p>
            <a:pPr marL="1200150" lvl="2" indent="-2857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206,223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개의 뉴스 기사</a:t>
            </a:r>
            <a:endParaRPr lang="en-US" altLang="ko-KR" sz="150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  <a:p>
            <a:pPr marL="1200150" lvl="2" indent="-2857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25,325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개의 채권분석보고서</a:t>
            </a:r>
            <a:endParaRPr lang="en-US" altLang="ko-KR" sz="150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논문 구현</a:t>
            </a:r>
            <a:endParaRPr lang="en-US" altLang="ko-KR" sz="150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  <a:p>
            <a:pPr marL="1200150" lvl="2" indent="-2857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128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개의 의사록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(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실제 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section 2&amp;3)</a:t>
            </a:r>
          </a:p>
          <a:p>
            <a:pPr marL="1200150" lvl="2" indent="-2857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200,885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개의 뉴스기사</a:t>
            </a:r>
            <a:endParaRPr lang="en-US" altLang="ko-KR" sz="150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  <a:p>
            <a:pPr marL="1200150" lvl="2" indent="-2857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FF0000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N 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개의 채권분석보고서</a:t>
            </a:r>
            <a:endParaRPr lang="en-US" altLang="ko-KR" sz="150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76696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683568" y="-371068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/>
        </p:nvCxnSpPr>
        <p:spPr>
          <a:xfrm flipH="1">
            <a:off x="692540" y="548680"/>
            <a:ext cx="9295796" cy="0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64352" y="143777"/>
            <a:ext cx="1935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Data preprocessing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45712" y="151887"/>
            <a:ext cx="1666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Lexicon Dictionary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-9283" y="1814616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각 삼각형 9"/>
          <p:cNvSpPr/>
          <p:nvPr/>
        </p:nvSpPr>
        <p:spPr>
          <a:xfrm rot="5400000">
            <a:off x="691922" y="2144688"/>
            <a:ext cx="81142" cy="1080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107504" y="1340768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504" y="1819563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549" y="882386"/>
            <a:ext cx="541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56571" y="148154"/>
            <a:ext cx="2246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Evaluation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9968" y="150020"/>
            <a:ext cx="1666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Conclusion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E207EF-E35D-4CE3-8836-BD69E70607F0}"/>
              </a:ext>
            </a:extLst>
          </p:cNvPr>
          <p:cNvSpPr txBox="1"/>
          <p:nvPr/>
        </p:nvSpPr>
        <p:spPr>
          <a:xfrm>
            <a:off x="1250750" y="1063904"/>
            <a:ext cx="657107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20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결론</a:t>
            </a:r>
            <a:endParaRPr kumimoji="0" lang="en-US" altLang="ko-KR" sz="2200" b="0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30" panose="02030504000101010101" pitchFamily="18" charset="-127"/>
              <a:ea typeface="-윤고딕330" panose="02030504000101010101" pitchFamily="18" charset="-127"/>
              <a:cs typeface="+mn-cs"/>
            </a:endParaRPr>
          </a:p>
        </p:txBody>
      </p:sp>
      <p:sp>
        <p:nvSpPr>
          <p:cNvPr id="14" name="갈매기형 수장 14">
            <a:extLst>
              <a:ext uri="{FF2B5EF4-FFF2-40B4-BE49-F238E27FC236}">
                <a16:creationId xmlns:a16="http://schemas.microsoft.com/office/drawing/2014/main" id="{DD99EDD9-FB4B-422C-8DFA-F636B05AA725}"/>
              </a:ext>
            </a:extLst>
          </p:cNvPr>
          <p:cNvSpPr/>
          <p:nvPr/>
        </p:nvSpPr>
        <p:spPr>
          <a:xfrm>
            <a:off x="1062666" y="1182781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갈매기형 수장 15">
            <a:extLst>
              <a:ext uri="{FF2B5EF4-FFF2-40B4-BE49-F238E27FC236}">
                <a16:creationId xmlns:a16="http://schemas.microsoft.com/office/drawing/2014/main" id="{317C2704-563B-4252-B046-A84FC6D83940}"/>
              </a:ext>
            </a:extLst>
          </p:cNvPr>
          <p:cNvSpPr/>
          <p:nvPr/>
        </p:nvSpPr>
        <p:spPr>
          <a:xfrm>
            <a:off x="915015" y="1182781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626FA5-492B-4048-A6B3-363890FD5840}"/>
              </a:ext>
            </a:extLst>
          </p:cNvPr>
          <p:cNvSpPr txBox="1"/>
          <p:nvPr/>
        </p:nvSpPr>
        <p:spPr>
          <a:xfrm>
            <a:off x="1826231" y="956548"/>
            <a:ext cx="7713721" cy="495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‘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텍스트 </a:t>
            </a:r>
            <a:r>
              <a:rPr lang="ko-KR" altLang="en-US" sz="1500" dirty="0" err="1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마이닝을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 활용한 금융통화위원회 의사록 분석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’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논문 구현</a:t>
            </a:r>
            <a:endParaRPr lang="en-US" altLang="ko-KR" sz="150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232672" y="2708471"/>
            <a:ext cx="46671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1. </a:t>
            </a: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자료 준비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232672" y="3105893"/>
            <a:ext cx="20882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2. </a:t>
            </a: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텍스트 전처리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232672" y="3518196"/>
            <a:ext cx="46671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3. </a:t>
            </a: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특징 선택</a:t>
            </a:r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2672" y="3897981"/>
            <a:ext cx="57099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4. </a:t>
            </a: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양극</a:t>
            </a:r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/ </a:t>
            </a: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감성 분류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232672" y="4310284"/>
            <a:ext cx="57099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-윤고딕320" panose="02030504000101010101" pitchFamily="18" charset="-127"/>
                <a:ea typeface="-윤고딕320" panose="02030504000101010101" pitchFamily="18" charset="-127"/>
              </a:rPr>
              <a:t>5. </a:t>
            </a: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-윤고딕320" panose="02030504000101010101" pitchFamily="18" charset="-127"/>
                <a:ea typeface="-윤고딕320" panose="02030504000101010101" pitchFamily="18" charset="-127"/>
              </a:rPr>
              <a:t>감성 측정</a:t>
            </a:r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-윤고딕320" panose="02030504000101010101" pitchFamily="18" charset="-127"/>
                <a:ea typeface="-윤고딕320" panose="02030504000101010101" pitchFamily="18" charset="-127"/>
              </a:rPr>
              <a:t>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0626FA5-492B-4048-A6B3-363890FD5840}"/>
              </a:ext>
            </a:extLst>
          </p:cNvPr>
          <p:cNvSpPr txBox="1"/>
          <p:nvPr/>
        </p:nvSpPr>
        <p:spPr>
          <a:xfrm>
            <a:off x="936105" y="1610073"/>
            <a:ext cx="8028383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목적 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: 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금통위 의사록 톤 분석을 통해 금리와의 관계를 보고자 함</a:t>
            </a:r>
            <a:endParaRPr lang="en-US" altLang="ko-KR" sz="150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0626FA5-492B-4048-A6B3-363890FD5840}"/>
              </a:ext>
            </a:extLst>
          </p:cNvPr>
          <p:cNvSpPr txBox="1"/>
          <p:nvPr/>
        </p:nvSpPr>
        <p:spPr>
          <a:xfrm>
            <a:off x="971600" y="1991434"/>
            <a:ext cx="7713721" cy="495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논문 구현 프로세스</a:t>
            </a:r>
            <a:endParaRPr kumimoji="0" lang="en-US" altLang="ko-KR" sz="1500" b="0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0626FA5-492B-4048-A6B3-363890FD5840}"/>
              </a:ext>
            </a:extLst>
          </p:cNvPr>
          <p:cNvSpPr txBox="1"/>
          <p:nvPr/>
        </p:nvSpPr>
        <p:spPr>
          <a:xfrm>
            <a:off x="971600" y="4818201"/>
            <a:ext cx="8028383" cy="1586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향후 과제</a:t>
            </a:r>
            <a:endParaRPr lang="en-US" altLang="ko-KR" sz="150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  <a:p>
            <a:pPr marR="0" lvl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6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 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채권분석보고서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, 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뉴스 기사 외 금리와 상관관계가 있을 만한 데이터를 통해 추가하는 것</a:t>
            </a:r>
            <a:endParaRPr lang="en-US" altLang="ko-KR" sz="150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데이터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(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의사록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, 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뉴스 기사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, 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채권분석보고서</a:t>
            </a:r>
            <a:r>
              <a:rPr lang="en-US" altLang="ko-KR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)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를 추가하는 것</a:t>
            </a:r>
            <a:endParaRPr lang="en-US" altLang="ko-KR" sz="150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채권분석과 뉴스 등의 </a:t>
            </a:r>
            <a:r>
              <a:rPr lang="ko-KR" altLang="en-US" sz="1500" dirty="0" err="1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전처리</a:t>
            </a:r>
            <a:r>
              <a:rPr lang="ko-KR" altLang="en-US" sz="15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 </a:t>
            </a:r>
            <a:endParaRPr lang="en-US" altLang="ko-KR" sz="150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4859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3568" y="3075057"/>
            <a:ext cx="33330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3568" y="2877903"/>
            <a:ext cx="27545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한국은행 논문 요약</a:t>
            </a:r>
            <a:endParaRPr lang="en-US" altLang="ko-KR" sz="1400" dirty="0"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  <a:solidFill>
                <a:schemeClr val="bg1">
                  <a:lumMod val="95000"/>
                </a:schemeClr>
              </a:solidFill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37999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2E8A9C-1F8B-44D3-9C0B-2F9A7AF08405}"/>
              </a:ext>
            </a:extLst>
          </p:cNvPr>
          <p:cNvSpPr txBox="1"/>
          <p:nvPr/>
        </p:nvSpPr>
        <p:spPr>
          <a:xfrm>
            <a:off x="323528" y="476672"/>
            <a:ext cx="8352928" cy="4936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ko-KR" altLang="en-US" sz="72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소연 발표 </a:t>
            </a:r>
            <a:r>
              <a:rPr lang="en-US" altLang="ko-KR" sz="72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100</a:t>
            </a:r>
            <a:r>
              <a:rPr lang="ko-KR" altLang="en-US" sz="72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점</a:t>
            </a:r>
            <a:endParaRPr lang="en-US" altLang="ko-KR" sz="720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  <a:p>
            <a:pPr marR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ko-KR" altLang="en-US" sz="72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</a:rPr>
              <a:t>소연 퍼포먼스 </a:t>
            </a:r>
            <a:r>
              <a:rPr kumimoji="0" lang="en-US" altLang="ko-KR" sz="72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</a:rPr>
              <a:t>100</a:t>
            </a:r>
            <a:r>
              <a:rPr kumimoji="0" lang="ko-KR" altLang="en-US" sz="7200" b="0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</a:rPr>
              <a:t>점</a:t>
            </a:r>
            <a:endParaRPr kumimoji="0" lang="en-US" altLang="ko-KR" sz="7200" b="0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20" panose="02030504000101010101" pitchFamily="18" charset="-127"/>
              <a:ea typeface="-윤고딕320" panose="02030504000101010101" pitchFamily="18" charset="-127"/>
            </a:endParaRPr>
          </a:p>
          <a:p>
            <a:pPr marR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ko-KR" altLang="en-US" sz="720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-윤고딕320" panose="02030504000101010101" pitchFamily="18" charset="-127"/>
                <a:ea typeface="-윤고딕320" panose="02030504000101010101" pitchFamily="18" charset="-127"/>
              </a:rPr>
              <a:t>소연 사랑해</a:t>
            </a:r>
            <a:endParaRPr kumimoji="0" lang="en-US" sz="7200" b="0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srgbClr val="272123"/>
              </a:solidFill>
              <a:effectLst/>
              <a:uLnTx/>
              <a:uFillTx/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0360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285750" marR="0" indent="-285750" algn="l" defTabSz="914400" rtl="0" eaLnBrk="1" fontAlgn="auto" latinLnBrk="1" hangingPunct="1">
          <a:lnSpc>
            <a:spcPct val="150000"/>
          </a:lnSpc>
          <a:spcBef>
            <a:spcPts val="0"/>
          </a:spcBef>
          <a:spcAft>
            <a:spcPts val="0"/>
          </a:spcAft>
          <a:buClrTx/>
          <a:buSzTx/>
          <a:buFont typeface="Arial" pitchFamily="34" charset="0"/>
          <a:buChar char="•"/>
          <a:tabLst/>
          <a:defRPr kumimoji="0" sz="1600" b="0" i="0" u="none" strike="noStrike" kern="1200" cap="none" spc="0" normalizeH="0" baseline="0" noProof="0" dirty="0">
            <a:ln>
              <a:solidFill>
                <a:prstClr val="black">
                  <a:alpha val="30000"/>
                </a:prstClr>
              </a:solidFill>
            </a:ln>
            <a:solidFill>
              <a:srgbClr val="272123"/>
            </a:solidFill>
            <a:effectLst/>
            <a:uLnTx/>
            <a:uFillTx/>
            <a:latin typeface="-윤고딕320" panose="02030504000101010101" pitchFamily="18" charset="-127"/>
            <a:ea typeface="-윤고딕320" panose="02030504000101010101" pitchFamily="18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3299</TotalTime>
  <Words>1320</Words>
  <Application>Microsoft Office PowerPoint</Application>
  <PresentationFormat>On-screen Show (4:3)</PresentationFormat>
  <Paragraphs>357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Arial</vt:lpstr>
      <vt:lpstr>-윤고딕360</vt:lpstr>
      <vt:lpstr>-윤고딕330</vt:lpstr>
      <vt:lpstr>Wingdings</vt:lpstr>
      <vt:lpstr>맑은 고딕</vt:lpstr>
      <vt:lpstr>Yoon 윤고딕 520_TT</vt:lpstr>
      <vt:lpstr>-윤고딕320</vt:lpstr>
      <vt:lpstr>Cambria Math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hp</dc:creator>
  <cp:lastModifiedBy>이 소연</cp:lastModifiedBy>
  <cp:revision>244</cp:revision>
  <dcterms:created xsi:type="dcterms:W3CDTF">2013-09-05T09:43:46Z</dcterms:created>
  <dcterms:modified xsi:type="dcterms:W3CDTF">2020-08-03T08:42:59Z</dcterms:modified>
</cp:coreProperties>
</file>